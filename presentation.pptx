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87968" y="1430371"/>
            <a:ext cx="8624570" cy="503555"/>
          </a:xfrm>
          <a:custGeom>
            <a:avLst/>
            <a:gdLst/>
            <a:ahLst/>
            <a:cxnLst/>
            <a:rect l="l" t="t" r="r" b="b"/>
            <a:pathLst>
              <a:path w="8624570" h="503555">
                <a:moveTo>
                  <a:pt x="8624289" y="502987"/>
                </a:moveTo>
                <a:lnTo>
                  <a:pt x="0" y="502987"/>
                </a:lnTo>
                <a:lnTo>
                  <a:pt x="0" y="0"/>
                </a:lnTo>
                <a:lnTo>
                  <a:pt x="8624289" y="0"/>
                </a:lnTo>
                <a:lnTo>
                  <a:pt x="8624289" y="502987"/>
                </a:lnTo>
                <a:close/>
              </a:path>
            </a:pathLst>
          </a:custGeom>
          <a:solidFill>
            <a:srgbClr val="0F1F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6905" y="1241058"/>
            <a:ext cx="8656320" cy="7188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11111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11111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771" y="809495"/>
            <a:ext cx="9162573" cy="3929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11111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11111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0044" y="1611132"/>
            <a:ext cx="3630453" cy="5972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8884" y="325026"/>
            <a:ext cx="6283959" cy="417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11111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5529" y="1532540"/>
            <a:ext cx="9219565" cy="2878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7.jpg"/><Relationship Id="rId6" Type="http://schemas.openxmlformats.org/officeDocument/2006/relationships/image" Target="../media/image8.png"/><Relationship Id="rId7" Type="http://schemas.openxmlformats.org/officeDocument/2006/relationships/image" Target="../media/image9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4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.png"/><Relationship Id="rId4" Type="http://schemas.openxmlformats.org/officeDocument/2006/relationships/hyperlink" Target="https://static.vecteezy.com/system/resources/previews/075/683/084/non" TargetMode="External"/><Relationship Id="rId5" Type="http://schemas.openxmlformats.org/officeDocument/2006/relationships/hyperlink" Target="http://www.vecteezy.com/" TargetMode="External"/><Relationship Id="rId6" Type="http://schemas.openxmlformats.org/officeDocument/2006/relationships/hyperlink" Target="http://www.klipfolio.com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836905" y="1241058"/>
            <a:ext cx="8656320" cy="718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550">
                <a:solidFill>
                  <a:srgbClr val="FFFFFF"/>
                </a:solidFill>
                <a:latin typeface="Arial MT"/>
                <a:cs typeface="Arial MT"/>
              </a:rPr>
              <a:t>Bluestock</a:t>
            </a:r>
            <a:r>
              <a:rPr dirty="0" sz="4550" spc="4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50" spc="105">
                <a:solidFill>
                  <a:srgbClr val="FFFFFF"/>
                </a:solidFill>
                <a:latin typeface="Arial MT"/>
                <a:cs typeface="Arial MT"/>
              </a:rPr>
              <a:t>Mutual</a:t>
            </a:r>
            <a:r>
              <a:rPr dirty="0" sz="4550" spc="2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50">
                <a:solidFill>
                  <a:srgbClr val="FFFFFF"/>
                </a:solidFill>
                <a:latin typeface="Arial MT"/>
                <a:cs typeface="Arial MT"/>
              </a:rPr>
              <a:t>Fund</a:t>
            </a:r>
            <a:r>
              <a:rPr dirty="0" sz="4550" spc="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50" spc="-10">
                <a:solidFill>
                  <a:srgbClr val="FFFFFF"/>
                </a:solidFill>
                <a:latin typeface="Arial MT"/>
                <a:cs typeface="Arial MT"/>
              </a:rPr>
              <a:t>Analytics</a:t>
            </a:r>
            <a:endParaRPr sz="455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64393" y="2027669"/>
            <a:ext cx="2456180" cy="460375"/>
          </a:xfrm>
          <a:custGeom>
            <a:avLst/>
            <a:gdLst/>
            <a:ahLst/>
            <a:cxnLst/>
            <a:rect l="l" t="t" r="r" b="b"/>
            <a:pathLst>
              <a:path w="2456179" h="460375">
                <a:moveTo>
                  <a:pt x="2455663" y="459762"/>
                </a:moveTo>
                <a:lnTo>
                  <a:pt x="0" y="459762"/>
                </a:lnTo>
                <a:lnTo>
                  <a:pt x="0" y="0"/>
                </a:lnTo>
                <a:lnTo>
                  <a:pt x="2455663" y="0"/>
                </a:lnTo>
                <a:lnTo>
                  <a:pt x="2455663" y="459762"/>
                </a:lnTo>
                <a:close/>
              </a:path>
            </a:pathLst>
          </a:custGeom>
          <a:solidFill>
            <a:srgbClr val="0F1F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26238" y="1786507"/>
            <a:ext cx="2474595" cy="733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650" spc="-80">
                <a:solidFill>
                  <a:srgbClr val="FFFFFF"/>
                </a:solidFill>
                <a:latin typeface="Arial MT"/>
                <a:cs typeface="Arial MT"/>
              </a:rPr>
              <a:t>Capstone</a:t>
            </a:r>
            <a:endParaRPr sz="46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2711418"/>
            <a:ext cx="10054590" cy="200660"/>
          </a:xfrm>
          <a:custGeom>
            <a:avLst/>
            <a:gdLst/>
            <a:ahLst/>
            <a:cxnLst/>
            <a:rect l="l" t="t" r="r" b="b"/>
            <a:pathLst>
              <a:path w="10054590" h="200660">
                <a:moveTo>
                  <a:pt x="10054469" y="200409"/>
                </a:moveTo>
                <a:lnTo>
                  <a:pt x="0" y="200409"/>
                </a:lnTo>
                <a:lnTo>
                  <a:pt x="0" y="0"/>
                </a:lnTo>
                <a:lnTo>
                  <a:pt x="10054469" y="0"/>
                </a:lnTo>
                <a:lnTo>
                  <a:pt x="10054469" y="200409"/>
                </a:lnTo>
                <a:close/>
              </a:path>
            </a:pathLst>
          </a:custGeom>
          <a:solidFill>
            <a:srgbClr val="0F1F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37176" y="2624437"/>
            <a:ext cx="557593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35">
                <a:solidFill>
                  <a:srgbClr val="E2E2E2"/>
                </a:solidFill>
                <a:latin typeface="Calibri"/>
                <a:cs typeface="Calibri"/>
              </a:rPr>
              <a:t>End-</a:t>
            </a:r>
            <a:r>
              <a:rPr dirty="0" sz="1700" spc="-25">
                <a:solidFill>
                  <a:srgbClr val="E2E2E2"/>
                </a:solidFill>
                <a:latin typeface="Calibri"/>
                <a:cs typeface="Calibri"/>
              </a:rPr>
              <a:t>to-</a:t>
            </a:r>
            <a:r>
              <a:rPr dirty="0" sz="1700">
                <a:solidFill>
                  <a:srgbClr val="E2E2E2"/>
                </a:solidFill>
                <a:latin typeface="Calibri"/>
                <a:cs typeface="Calibri"/>
              </a:rPr>
              <a:t>End</a:t>
            </a:r>
            <a:r>
              <a:rPr dirty="0" sz="1700" spc="45">
                <a:solidFill>
                  <a:srgbClr val="E2E2E2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DADADA"/>
                </a:solidFill>
                <a:latin typeface="Calibri"/>
                <a:cs typeface="Calibri"/>
              </a:rPr>
              <a:t>Data</a:t>
            </a:r>
            <a:r>
              <a:rPr dirty="0" sz="1700" spc="-20">
                <a:solidFill>
                  <a:srgbClr val="DADADA"/>
                </a:solidFill>
                <a:latin typeface="Calibri"/>
                <a:cs typeface="Calibri"/>
              </a:rPr>
              <a:t> </a:t>
            </a:r>
            <a:r>
              <a:rPr dirty="0" sz="1700" spc="-20">
                <a:solidFill>
                  <a:srgbClr val="E6E6E6"/>
                </a:solidFill>
                <a:latin typeface="Calibri"/>
                <a:cs typeface="Calibri"/>
              </a:rPr>
              <a:t>Engineering,</a:t>
            </a:r>
            <a:r>
              <a:rPr dirty="0" sz="1700" spc="70">
                <a:solidFill>
                  <a:srgbClr val="E6E6E6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DFDFDF"/>
                </a:solidFill>
                <a:latin typeface="Calibri"/>
                <a:cs typeface="Calibri"/>
              </a:rPr>
              <a:t>Risk</a:t>
            </a:r>
            <a:r>
              <a:rPr dirty="0" sz="1700" spc="25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dirty="0" sz="1700" spc="-30">
                <a:solidFill>
                  <a:srgbClr val="E6E6E6"/>
                </a:solidFill>
                <a:latin typeface="Calibri"/>
                <a:cs typeface="Calibri"/>
              </a:rPr>
              <a:t>Modeling,</a:t>
            </a:r>
            <a:r>
              <a:rPr dirty="0" sz="1700" spc="45">
                <a:solidFill>
                  <a:srgbClr val="E6E6E6"/>
                </a:solidFill>
                <a:latin typeface="Calibri"/>
                <a:cs typeface="Calibri"/>
              </a:rPr>
              <a:t> </a:t>
            </a:r>
            <a:r>
              <a:rPr dirty="0" sz="1700" spc="-90">
                <a:solidFill>
                  <a:srgbClr val="E4E4E4"/>
                </a:solidFill>
                <a:latin typeface="Calibri"/>
                <a:cs typeface="Calibri"/>
              </a:rPr>
              <a:t>&amp;</a:t>
            </a:r>
            <a:r>
              <a:rPr dirty="0" sz="1700" spc="-40">
                <a:solidFill>
                  <a:srgbClr val="E4E4E4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DADADA"/>
                </a:solidFill>
                <a:latin typeface="Calibri"/>
                <a:cs typeface="Calibri"/>
              </a:rPr>
              <a:t>BI</a:t>
            </a:r>
            <a:r>
              <a:rPr dirty="0" sz="1700" spc="-35">
                <a:solidFill>
                  <a:srgbClr val="DADADA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E2E2E2"/>
                </a:solidFill>
                <a:latin typeface="Calibri"/>
                <a:cs typeface="Calibri"/>
              </a:rPr>
              <a:t>Dashboarding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740971"/>
            <a:ext cx="10054590" cy="161290"/>
          </a:xfrm>
          <a:custGeom>
            <a:avLst/>
            <a:gdLst/>
            <a:ahLst/>
            <a:cxnLst/>
            <a:rect l="l" t="t" r="r" b="b"/>
            <a:pathLst>
              <a:path w="10054590" h="161289">
                <a:moveTo>
                  <a:pt x="10054469" y="161113"/>
                </a:moveTo>
                <a:lnTo>
                  <a:pt x="0" y="161113"/>
                </a:lnTo>
                <a:lnTo>
                  <a:pt x="0" y="0"/>
                </a:lnTo>
                <a:lnTo>
                  <a:pt x="10054469" y="0"/>
                </a:lnTo>
                <a:lnTo>
                  <a:pt x="10054469" y="161113"/>
                </a:lnTo>
                <a:close/>
              </a:path>
            </a:pathLst>
          </a:custGeom>
          <a:solidFill>
            <a:srgbClr val="0F1F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4000324"/>
            <a:ext cx="10054590" cy="137795"/>
          </a:xfrm>
          <a:custGeom>
            <a:avLst/>
            <a:gdLst/>
            <a:ahLst/>
            <a:cxnLst/>
            <a:rect l="l" t="t" r="r" b="b"/>
            <a:pathLst>
              <a:path w="10054590" h="137795">
                <a:moveTo>
                  <a:pt x="10054469" y="137535"/>
                </a:moveTo>
                <a:lnTo>
                  <a:pt x="0" y="137535"/>
                </a:lnTo>
                <a:lnTo>
                  <a:pt x="0" y="0"/>
                </a:lnTo>
                <a:lnTo>
                  <a:pt x="10054469" y="0"/>
                </a:lnTo>
                <a:lnTo>
                  <a:pt x="10054469" y="137535"/>
                </a:lnTo>
                <a:close/>
              </a:path>
            </a:pathLst>
          </a:custGeom>
          <a:solidFill>
            <a:srgbClr val="0F1F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36207" y="3589549"/>
            <a:ext cx="2418080" cy="54864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1200">
                <a:solidFill>
                  <a:srgbClr val="E1E1E1"/>
                </a:solidFill>
                <a:latin typeface="Arial MT"/>
                <a:cs typeface="Arial MT"/>
              </a:rPr>
              <a:t>Aditya</a:t>
            </a:r>
            <a:r>
              <a:rPr dirty="0" sz="1200" spc="1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1200" spc="-25">
                <a:solidFill>
                  <a:srgbClr val="E8E8E8"/>
                </a:solidFill>
                <a:latin typeface="Arial MT"/>
                <a:cs typeface="Arial MT"/>
              </a:rPr>
              <a:t>Raj</a:t>
            </a:r>
            <a:endParaRPr sz="1200">
              <a:latin typeface="Arial MT"/>
              <a:cs typeface="Arial MT"/>
            </a:endParaRPr>
          </a:p>
          <a:p>
            <a:pPr marL="17780">
              <a:lnSpc>
                <a:spcPct val="100000"/>
              </a:lnSpc>
              <a:spcBef>
                <a:spcPts val="675"/>
              </a:spcBef>
            </a:pPr>
            <a:r>
              <a:rPr dirty="0" sz="1000">
                <a:solidFill>
                  <a:srgbClr val="B1B1B1"/>
                </a:solidFill>
                <a:latin typeface="Arial MT"/>
                <a:cs typeface="Arial MT"/>
              </a:rPr>
              <a:t>Data</a:t>
            </a:r>
            <a:r>
              <a:rPr dirty="0" sz="1000" spc="110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5B5B5"/>
                </a:solidFill>
                <a:latin typeface="Arial MT"/>
                <a:cs typeface="Arial MT"/>
              </a:rPr>
              <a:t>Analytics</a:t>
            </a:r>
            <a:r>
              <a:rPr dirty="0" sz="1000" spc="380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AEAEAE"/>
                </a:solidFill>
                <a:latin typeface="Arial MT"/>
                <a:cs typeface="Arial MT"/>
              </a:rPr>
              <a:t>ntern</a:t>
            </a:r>
            <a:r>
              <a:rPr dirty="0" sz="1000" spc="200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798790"/>
                </a:solidFill>
                <a:latin typeface="Arial MT"/>
                <a:cs typeface="Arial MT"/>
              </a:rPr>
              <a:t>|</a:t>
            </a:r>
            <a:r>
              <a:rPr dirty="0" sz="1000" spc="220">
                <a:solidFill>
                  <a:srgbClr val="79879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3B3B3"/>
                </a:solidFill>
                <a:latin typeface="Arial MT"/>
                <a:cs typeface="Arial MT"/>
              </a:rPr>
              <a:t>Bluestoc</a:t>
            </a:r>
            <a:r>
              <a:rPr dirty="0" sz="1000" spc="-140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A8A8A8"/>
                </a:solidFill>
                <a:latin typeface="Arial MT"/>
                <a:cs typeface="Arial MT"/>
              </a:rPr>
              <a:t>k </a:t>
            </a:r>
            <a:r>
              <a:rPr dirty="0" sz="1000" spc="-10">
                <a:solidFill>
                  <a:srgbClr val="B3B3B3"/>
                </a:solidFill>
                <a:latin typeface="Arial MT"/>
                <a:cs typeface="Arial MT"/>
              </a:rPr>
              <a:t>Fintech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487" y="1398934"/>
            <a:ext cx="4086225" cy="2357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9200" y="0"/>
            <a:ext cx="5029200" cy="5658611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56350" y="554525"/>
            <a:ext cx="3556000" cy="770890"/>
          </a:xfrm>
          <a:prstGeom prst="rect"/>
        </p:spPr>
        <p:txBody>
          <a:bodyPr wrap="square" lIns="0" tIns="68580" rIns="0" bIns="0" rtlCol="0" vert="horz">
            <a:spAutoFit/>
          </a:bodyPr>
          <a:lstStyle/>
          <a:p>
            <a:pPr marL="14604" marR="5080" indent="-2540">
              <a:lnSpc>
                <a:spcPts val="2720"/>
              </a:lnSpc>
              <a:spcBef>
                <a:spcPts val="540"/>
              </a:spcBef>
            </a:pPr>
            <a:r>
              <a:rPr dirty="0" spc="110">
                <a:solidFill>
                  <a:srgbClr val="131313"/>
                </a:solidFill>
              </a:rPr>
              <a:t>The</a:t>
            </a:r>
            <a:r>
              <a:rPr dirty="0" spc="55">
                <a:solidFill>
                  <a:srgbClr val="131313"/>
                </a:solidFill>
              </a:rPr>
              <a:t> </a:t>
            </a:r>
            <a:r>
              <a:rPr dirty="0" spc="95">
                <a:solidFill>
                  <a:srgbClr val="151515"/>
                </a:solidFill>
              </a:rPr>
              <a:t>Data </a:t>
            </a:r>
            <a:r>
              <a:rPr dirty="0" spc="65"/>
              <a:t>Fragmentation </a:t>
            </a:r>
            <a:r>
              <a:rPr dirty="0" spc="70">
                <a:solidFill>
                  <a:srgbClr val="161616"/>
                </a:solidFill>
              </a:rPr>
              <a:t>Problem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1861" y="2002797"/>
            <a:ext cx="4057015" cy="26130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780" marR="258445" indent="3175">
              <a:lnSpc>
                <a:spcPct val="120300"/>
              </a:lnSpc>
              <a:spcBef>
                <a:spcPts val="95"/>
              </a:spcBef>
            </a:pPr>
            <a:r>
              <a:rPr dirty="0" sz="1500">
                <a:solidFill>
                  <a:srgbClr val="161616"/>
                </a:solidFill>
                <a:latin typeface="Calibri"/>
                <a:cs typeface="Calibri"/>
              </a:rPr>
              <a:t>The</a:t>
            </a:r>
            <a:r>
              <a:rPr dirty="0" sz="1500" spc="15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1500" spc="50">
                <a:solidFill>
                  <a:srgbClr val="131313"/>
                </a:solidFill>
                <a:latin typeface="Calibri"/>
                <a:cs typeface="Calibri"/>
              </a:rPr>
              <a:t>mutual</a:t>
            </a:r>
            <a:r>
              <a:rPr dirty="0" sz="1500" spc="15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61616"/>
                </a:solidFill>
                <a:latin typeface="Calibri"/>
                <a:cs typeface="Calibri"/>
              </a:rPr>
              <a:t>fund</a:t>
            </a:r>
            <a:r>
              <a:rPr dirty="0" sz="1500" spc="14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1500" spc="50">
                <a:solidFill>
                  <a:srgbClr val="181818"/>
                </a:solidFill>
                <a:latin typeface="Calibri"/>
                <a:cs typeface="Calibri"/>
              </a:rPr>
              <a:t>industry</a:t>
            </a:r>
            <a:r>
              <a:rPr dirty="0" sz="1500" spc="17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500" spc="55">
                <a:solidFill>
                  <a:srgbClr val="0E0E0E"/>
                </a:solidFill>
                <a:latin typeface="Calibri"/>
                <a:cs typeface="Calibri"/>
              </a:rPr>
              <a:t>generates</a:t>
            </a:r>
            <a:r>
              <a:rPr dirty="0" sz="1500" spc="195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1500" spc="45">
                <a:solidFill>
                  <a:srgbClr val="161616"/>
                </a:solidFill>
                <a:latin typeface="Calibri"/>
                <a:cs typeface="Calibri"/>
              </a:rPr>
              <a:t>massive </a:t>
            </a:r>
            <a:r>
              <a:rPr dirty="0" sz="1500" spc="60">
                <a:solidFill>
                  <a:srgbClr val="161616"/>
                </a:solidFill>
                <a:latin typeface="Calibri"/>
                <a:cs typeface="Calibri"/>
              </a:rPr>
              <a:t>data</a:t>
            </a:r>
            <a:r>
              <a:rPr dirty="0" sz="1500" spc="15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1500" spc="50">
                <a:solidFill>
                  <a:srgbClr val="0C0C0C"/>
                </a:solidFill>
                <a:latin typeface="Calibri"/>
                <a:cs typeface="Calibri"/>
              </a:rPr>
              <a:t>streams,</a:t>
            </a:r>
            <a:r>
              <a:rPr dirty="0" sz="1500" spc="21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61616"/>
                </a:solidFill>
                <a:latin typeface="Calibri"/>
                <a:cs typeface="Calibri"/>
              </a:rPr>
              <a:t>but</a:t>
            </a:r>
            <a:r>
              <a:rPr dirty="0" sz="1500" spc="15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61616"/>
                </a:solidFill>
                <a:latin typeface="Calibri"/>
                <a:cs typeface="Calibri"/>
              </a:rPr>
              <a:t>they</a:t>
            </a:r>
            <a:r>
              <a:rPr dirty="0" sz="1500" spc="13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181818"/>
                </a:solidFill>
                <a:latin typeface="Calibri"/>
                <a:cs typeface="Calibri"/>
              </a:rPr>
              <a:t>are</a:t>
            </a:r>
            <a:r>
              <a:rPr dirty="0" sz="1500" spc="15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500" spc="50">
                <a:solidFill>
                  <a:srgbClr val="0F0F0F"/>
                </a:solidFill>
                <a:latin typeface="Calibri"/>
                <a:cs typeface="Calibri"/>
              </a:rPr>
              <a:t>rarely</a:t>
            </a:r>
            <a:r>
              <a:rPr dirty="0" sz="1500" spc="13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0F0F0F"/>
                </a:solidFill>
                <a:latin typeface="Calibri"/>
                <a:cs typeface="Calibri"/>
              </a:rPr>
              <a:t>unified.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500">
              <a:latin typeface="Calibri"/>
              <a:cs typeface="Calibri"/>
            </a:endParaRPr>
          </a:p>
          <a:p>
            <a:pPr marL="175895" indent="-163195">
              <a:lnSpc>
                <a:spcPct val="100000"/>
              </a:lnSpc>
              <a:buClr>
                <a:srgbClr val="2D2D2D"/>
              </a:buClr>
              <a:buChar char="•"/>
              <a:tabLst>
                <a:tab pos="175895" algn="l"/>
              </a:tabLst>
            </a:pPr>
            <a:r>
              <a:rPr dirty="0" sz="1200">
                <a:solidFill>
                  <a:srgbClr val="232323"/>
                </a:solidFill>
                <a:latin typeface="Calibri"/>
                <a:cs typeface="Calibri"/>
              </a:rPr>
              <a:t>Daily</a:t>
            </a:r>
            <a:r>
              <a:rPr dirty="0" sz="1200" spc="204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42424"/>
                </a:solidFill>
                <a:latin typeface="Calibri"/>
                <a:cs typeface="Calibri"/>
              </a:rPr>
              <a:t>NAVs:</a:t>
            </a:r>
            <a:r>
              <a:rPr dirty="0" sz="1200" spc="204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81818"/>
                </a:solidFill>
                <a:latin typeface="Calibri"/>
                <a:cs typeface="Calibri"/>
              </a:rPr>
              <a:t>Sit</a:t>
            </a:r>
            <a:r>
              <a:rPr dirty="0" sz="1200" spc="14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D2D2D"/>
                </a:solidFill>
                <a:latin typeface="Calibri"/>
                <a:cs typeface="Calibri"/>
              </a:rPr>
              <a:t>in</a:t>
            </a:r>
            <a:r>
              <a:rPr dirty="0" sz="1200" spc="195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81818"/>
                </a:solidFill>
                <a:latin typeface="Calibri"/>
                <a:cs typeface="Calibri"/>
              </a:rPr>
              <a:t>isolated</a:t>
            </a:r>
            <a:r>
              <a:rPr dirty="0" sz="1200" spc="27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A2A2A"/>
                </a:solidFill>
                <a:latin typeface="Calibri"/>
                <a:cs typeface="Calibri"/>
              </a:rPr>
              <a:t>pricing</a:t>
            </a:r>
            <a:r>
              <a:rPr dirty="0" sz="1200" spc="2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Calibri"/>
                <a:cs typeface="Calibri"/>
              </a:rPr>
              <a:t>feeds.</a:t>
            </a:r>
            <a:endParaRPr sz="1200">
              <a:latin typeface="Calibri"/>
              <a:cs typeface="Calibri"/>
            </a:endParaRPr>
          </a:p>
          <a:p>
            <a:pPr marL="175895" indent="-163195">
              <a:lnSpc>
                <a:spcPct val="100000"/>
              </a:lnSpc>
              <a:spcBef>
                <a:spcPts val="355"/>
              </a:spcBef>
              <a:buClr>
                <a:srgbClr val="2F2F2F"/>
              </a:buClr>
              <a:buChar char="•"/>
              <a:tabLst>
                <a:tab pos="175895" algn="l"/>
              </a:tabLst>
            </a:pP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Monthly</a:t>
            </a:r>
            <a:r>
              <a:rPr dirty="0" sz="1200" spc="22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42424"/>
                </a:solidFill>
                <a:latin typeface="Calibri"/>
                <a:cs typeface="Calibri"/>
              </a:rPr>
              <a:t>AUMs:</a:t>
            </a:r>
            <a:r>
              <a:rPr dirty="0" sz="1200" spc="28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62626"/>
                </a:solidFill>
                <a:latin typeface="Calibri"/>
                <a:cs typeface="Calibri"/>
              </a:rPr>
              <a:t>Locked</a:t>
            </a:r>
            <a:r>
              <a:rPr dirty="0" sz="1200" spc="27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43434"/>
                </a:solidFill>
                <a:latin typeface="Calibri"/>
                <a:cs typeface="Calibri"/>
              </a:rPr>
              <a:t>in</a:t>
            </a:r>
            <a:r>
              <a:rPr dirty="0" sz="1200" spc="17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31313"/>
                </a:solidFill>
                <a:latin typeface="Calibri"/>
                <a:cs typeface="Calibri"/>
              </a:rPr>
              <a:t>distinct</a:t>
            </a:r>
            <a:r>
              <a:rPr dirty="0" sz="1200" spc="20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32323"/>
                </a:solidFill>
                <a:latin typeface="Calibri"/>
                <a:cs typeface="Calibri"/>
              </a:rPr>
              <a:t>compliance</a:t>
            </a:r>
            <a:r>
              <a:rPr dirty="0" sz="1200" spc="345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32323"/>
                </a:solidFill>
                <a:latin typeface="Calibri"/>
                <a:cs typeface="Calibri"/>
              </a:rPr>
              <a:t>disclosures.</a:t>
            </a:r>
            <a:endParaRPr sz="1200">
              <a:latin typeface="Calibri"/>
              <a:cs typeface="Calibri"/>
            </a:endParaRPr>
          </a:p>
          <a:p>
            <a:pPr marL="180340" indent="-167640">
              <a:lnSpc>
                <a:spcPct val="100000"/>
              </a:lnSpc>
              <a:spcBef>
                <a:spcPts val="355"/>
              </a:spcBef>
              <a:buClr>
                <a:srgbClr val="313131"/>
              </a:buClr>
              <a:buChar char="•"/>
              <a:tabLst>
                <a:tab pos="180340" algn="l"/>
              </a:tabLst>
            </a:pP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Transactions:</a:t>
            </a:r>
            <a:r>
              <a:rPr dirty="0" sz="1200" spc="42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62626"/>
                </a:solidFill>
                <a:latin typeface="Calibri"/>
                <a:cs typeface="Calibri"/>
              </a:rPr>
              <a:t>Buried</a:t>
            </a:r>
            <a:r>
              <a:rPr dirty="0" sz="1200" spc="27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F2F2F"/>
                </a:solidFill>
                <a:latin typeface="Calibri"/>
                <a:cs typeface="Calibri"/>
              </a:rPr>
              <a:t>in</a:t>
            </a:r>
            <a:r>
              <a:rPr dirty="0" sz="1200" spc="195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granular</a:t>
            </a:r>
            <a:r>
              <a:rPr dirty="0" sz="1200" spc="29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A2A2A"/>
                </a:solidFill>
                <a:latin typeface="Calibri"/>
                <a:cs typeface="Calibri"/>
              </a:rPr>
              <a:t>investor</a:t>
            </a:r>
            <a:r>
              <a:rPr dirty="0" sz="1200" spc="28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Calibri"/>
                <a:cs typeface="Calibri"/>
              </a:rPr>
              <a:t>ledgers.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z="1200">
              <a:latin typeface="Calibri"/>
              <a:cs typeface="Calibri"/>
            </a:endParaRPr>
          </a:p>
          <a:p>
            <a:pPr marL="173355" marR="43815" indent="12065">
              <a:lnSpc>
                <a:spcPct val="120000"/>
              </a:lnSpc>
            </a:pPr>
            <a:r>
              <a:rPr dirty="0" sz="1250" spc="-20" i="1">
                <a:solidFill>
                  <a:srgbClr val="282828"/>
                </a:solidFill>
                <a:latin typeface="Calibri"/>
                <a:cs typeface="Calibri"/>
              </a:rPr>
              <a:t>”Without</a:t>
            </a:r>
            <a:r>
              <a:rPr dirty="0" sz="1250" spc="55" i="1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D2D2D"/>
                </a:solidFill>
                <a:latin typeface="Calibri"/>
                <a:cs typeface="Calibri"/>
              </a:rPr>
              <a:t>a</a:t>
            </a:r>
            <a:r>
              <a:rPr dirty="0" sz="1250" spc="70" i="1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82828"/>
                </a:solidFill>
                <a:latin typeface="Calibri"/>
                <a:cs typeface="Calibri"/>
              </a:rPr>
              <a:t>central</a:t>
            </a:r>
            <a:r>
              <a:rPr dirty="0" sz="1250" spc="95" i="1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82828"/>
                </a:solidFill>
                <a:latin typeface="Calibri"/>
                <a:cs typeface="Calibri"/>
              </a:rPr>
              <a:t>key</a:t>
            </a:r>
            <a:r>
              <a:rPr dirty="0" sz="1250" spc="40" i="1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62626"/>
                </a:solidFill>
                <a:latin typeface="Calibri"/>
                <a:cs typeface="Calibri"/>
              </a:rPr>
              <a:t>connecting</a:t>
            </a:r>
            <a:r>
              <a:rPr dirty="0" sz="1250" spc="70" i="1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62626"/>
                </a:solidFill>
                <a:latin typeface="Calibri"/>
                <a:cs typeface="Calibri"/>
              </a:rPr>
              <a:t>behavior</a:t>
            </a:r>
            <a:r>
              <a:rPr dirty="0" sz="1250" spc="105" i="1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250" spc="-25" i="1">
                <a:solidFill>
                  <a:srgbClr val="282828"/>
                </a:solidFill>
                <a:latin typeface="Calibri"/>
                <a:cs typeface="Calibri"/>
              </a:rPr>
              <a:t>to </a:t>
            </a:r>
            <a:r>
              <a:rPr dirty="0" sz="1200" i="1">
                <a:solidFill>
                  <a:srgbClr val="2A2A2A"/>
                </a:solidFill>
                <a:latin typeface="Calibri"/>
                <a:cs typeface="Calibri"/>
              </a:rPr>
              <a:t>performance,</a:t>
            </a:r>
            <a:r>
              <a:rPr dirty="0" sz="1200" spc="300" i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262626"/>
                </a:solidFill>
                <a:latin typeface="Calibri"/>
                <a:cs typeface="Calibri"/>
              </a:rPr>
              <a:t>AMCs</a:t>
            </a:r>
            <a:r>
              <a:rPr dirty="0" sz="1200" spc="240" i="1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200" spc="65" i="1">
                <a:solidFill>
                  <a:srgbClr val="1F1F1F"/>
                </a:solidFill>
                <a:latin typeface="Calibri"/>
                <a:cs typeface="Calibri"/>
              </a:rPr>
              <a:t>miss</a:t>
            </a:r>
            <a:r>
              <a:rPr dirty="0" sz="1200" spc="220" i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1F1F1F"/>
                </a:solidFill>
                <a:latin typeface="Calibri"/>
                <a:cs typeface="Calibri"/>
              </a:rPr>
              <a:t>critical</a:t>
            </a:r>
            <a:r>
              <a:rPr dirty="0" sz="1200" spc="190" i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232323"/>
                </a:solidFill>
                <a:latin typeface="Calibri"/>
                <a:cs typeface="Calibri"/>
              </a:rPr>
              <a:t>signals</a:t>
            </a:r>
            <a:r>
              <a:rPr dirty="0" sz="1200" spc="204" i="1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1D1D1D"/>
                </a:solidFill>
                <a:latin typeface="Calibri"/>
                <a:cs typeface="Calibri"/>
              </a:rPr>
              <a:t>like</a:t>
            </a:r>
            <a:r>
              <a:rPr dirty="0" sz="1200" spc="170" i="1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212121"/>
                </a:solidFill>
                <a:latin typeface="Calibri"/>
                <a:cs typeface="Calibri"/>
              </a:rPr>
              <a:t>at-risk</a:t>
            </a:r>
            <a:r>
              <a:rPr dirty="0" sz="1200" spc="16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 spc="-10" i="1">
                <a:solidFill>
                  <a:srgbClr val="242424"/>
                </a:solidFill>
                <a:latin typeface="Calibri"/>
                <a:cs typeface="Calibri"/>
              </a:rPr>
              <a:t>capital </a:t>
            </a:r>
            <a:r>
              <a:rPr dirty="0" sz="1250" i="1">
                <a:solidFill>
                  <a:srgbClr val="282828"/>
                </a:solidFill>
                <a:latin typeface="Calibri"/>
                <a:cs typeface="Calibri"/>
              </a:rPr>
              <a:t>and</a:t>
            </a:r>
            <a:r>
              <a:rPr dirty="0" sz="1250" spc="75" i="1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2A2A2A"/>
                </a:solidFill>
                <a:latin typeface="Calibri"/>
                <a:cs typeface="Calibri"/>
              </a:rPr>
              <a:t>hidden</a:t>
            </a:r>
            <a:r>
              <a:rPr dirty="0" sz="1250" spc="155" i="1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1A1A1A"/>
                </a:solidFill>
                <a:latin typeface="Calibri"/>
                <a:cs typeface="Calibri"/>
              </a:rPr>
              <a:t>concentration</a:t>
            </a:r>
            <a:r>
              <a:rPr dirty="0" sz="1250" spc="235" i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262626"/>
                </a:solidFill>
                <a:latin typeface="Calibri"/>
                <a:cs typeface="Calibri"/>
              </a:rPr>
              <a:t>risks.”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2299" y="1571837"/>
            <a:ext cx="290750" cy="31043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91162" y="1155299"/>
            <a:ext cx="2876073" cy="3929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5771" y="809495"/>
            <a:ext cx="9162573" cy="3929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81965" y="1151632"/>
            <a:ext cx="2880360" cy="27305"/>
            <a:chOff x="481965" y="1151632"/>
            <a:chExt cx="2880360" cy="27305"/>
          </a:xfrm>
        </p:grpSpPr>
        <p:sp>
          <p:nvSpPr>
            <p:cNvPr id="6" name="object 6"/>
            <p:cNvSpPr/>
            <p:nvPr/>
          </p:nvSpPr>
          <p:spPr>
            <a:xfrm>
              <a:off x="484977" y="1174227"/>
              <a:ext cx="2874010" cy="0"/>
            </a:xfrm>
            <a:custGeom>
              <a:avLst/>
              <a:gdLst/>
              <a:ahLst/>
              <a:cxnLst/>
              <a:rect l="l" t="t" r="r" b="b"/>
              <a:pathLst>
                <a:path w="2874010" h="0">
                  <a:moveTo>
                    <a:pt x="0" y="0"/>
                  </a:moveTo>
                  <a:lnTo>
                    <a:pt x="2873715" y="0"/>
                  </a:lnTo>
                </a:path>
              </a:pathLst>
            </a:custGeom>
            <a:ln w="9038">
              <a:solidFill>
                <a:srgbClr val="0874C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81965" y="1156151"/>
              <a:ext cx="2880360" cy="0"/>
            </a:xfrm>
            <a:custGeom>
              <a:avLst/>
              <a:gdLst/>
              <a:ahLst/>
              <a:cxnLst/>
              <a:rect l="l" t="t" r="r" b="b"/>
              <a:pathLst>
                <a:path w="2880360" h="0">
                  <a:moveTo>
                    <a:pt x="0" y="0"/>
                  </a:moveTo>
                  <a:lnTo>
                    <a:pt x="2879740" y="0"/>
                  </a:lnTo>
                </a:path>
              </a:pathLst>
            </a:custGeom>
            <a:ln w="9038">
              <a:solidFill>
                <a:srgbClr val="0874C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6711361" y="1151632"/>
            <a:ext cx="2882900" cy="27305"/>
            <a:chOff x="6711361" y="1151632"/>
            <a:chExt cx="2882900" cy="27305"/>
          </a:xfrm>
        </p:grpSpPr>
        <p:sp>
          <p:nvSpPr>
            <p:cNvPr id="9" name="object 9"/>
            <p:cNvSpPr/>
            <p:nvPr/>
          </p:nvSpPr>
          <p:spPr>
            <a:xfrm>
              <a:off x="6714374" y="1174227"/>
              <a:ext cx="2874010" cy="0"/>
            </a:xfrm>
            <a:custGeom>
              <a:avLst/>
              <a:gdLst/>
              <a:ahLst/>
              <a:cxnLst/>
              <a:rect l="l" t="t" r="r" b="b"/>
              <a:pathLst>
                <a:path w="2874009" h="0">
                  <a:moveTo>
                    <a:pt x="0" y="0"/>
                  </a:moveTo>
                  <a:lnTo>
                    <a:pt x="2873715" y="0"/>
                  </a:lnTo>
                </a:path>
              </a:pathLst>
            </a:custGeom>
            <a:ln w="9038">
              <a:solidFill>
                <a:srgbClr val="0874C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711361" y="1156151"/>
              <a:ext cx="2882900" cy="0"/>
            </a:xfrm>
            <a:custGeom>
              <a:avLst/>
              <a:gdLst/>
              <a:ahLst/>
              <a:cxnLst/>
              <a:rect l="l" t="t" r="r" b="b"/>
              <a:pathLst>
                <a:path w="2882900" h="0">
                  <a:moveTo>
                    <a:pt x="0" y="0"/>
                  </a:moveTo>
                  <a:lnTo>
                    <a:pt x="2882752" y="0"/>
                  </a:lnTo>
                </a:path>
              </a:pathLst>
            </a:custGeom>
            <a:ln w="9038">
              <a:solidFill>
                <a:srgbClr val="0874C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707231" y="1563977"/>
            <a:ext cx="290830" cy="330200"/>
            <a:chOff x="707231" y="1563977"/>
            <a:chExt cx="290830" cy="3302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7231" y="1752597"/>
              <a:ext cx="290750" cy="14146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7231" y="1563977"/>
              <a:ext cx="290750" cy="330085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30835" y="1591484"/>
            <a:ext cx="322183" cy="286860"/>
          </a:xfrm>
          <a:prstGeom prst="rect">
            <a:avLst/>
          </a:prstGeom>
        </p:spPr>
      </p:pic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8255">
              <a:lnSpc>
                <a:spcPct val="100000"/>
              </a:lnSpc>
              <a:spcBef>
                <a:spcPts val="120"/>
              </a:spcBef>
            </a:pPr>
            <a:r>
              <a:rPr dirty="0" spc="70">
                <a:solidFill>
                  <a:srgbClr val="161616"/>
                </a:solidFill>
              </a:rPr>
              <a:t>Core</a:t>
            </a:r>
            <a:r>
              <a:rPr dirty="0" spc="25">
                <a:solidFill>
                  <a:srgbClr val="161616"/>
                </a:solidFill>
              </a:rPr>
              <a:t> </a:t>
            </a:r>
            <a:r>
              <a:rPr dirty="0" spc="70"/>
              <a:t>Project</a:t>
            </a:r>
            <a:r>
              <a:rPr dirty="0" spc="95"/>
              <a:t> </a:t>
            </a:r>
            <a:r>
              <a:rPr dirty="0" spc="60">
                <a:solidFill>
                  <a:srgbClr val="131313"/>
                </a:solidFill>
              </a:rPr>
              <a:t>Objectives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01240" y="2085265"/>
            <a:ext cx="2330450" cy="112903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30"/>
              </a:spcBef>
            </a:pPr>
            <a:r>
              <a:rPr dirty="0" sz="1550" spc="80">
                <a:solidFill>
                  <a:srgbClr val="0F0F0F"/>
                </a:solidFill>
                <a:latin typeface="Calibri"/>
                <a:cs typeface="Calibri"/>
              </a:rPr>
              <a:t>Data</a:t>
            </a:r>
            <a:r>
              <a:rPr dirty="0" sz="1550" spc="1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1550" spc="70">
                <a:solidFill>
                  <a:srgbClr val="111111"/>
                </a:solidFill>
                <a:latin typeface="Calibri"/>
                <a:cs typeface="Calibri"/>
              </a:rPr>
              <a:t>Engineering</a:t>
            </a:r>
            <a:endParaRPr sz="1550">
              <a:latin typeface="Calibri"/>
              <a:cs typeface="Calibri"/>
            </a:endParaRPr>
          </a:p>
          <a:p>
            <a:pPr algn="just" marL="14604" marR="5080" indent="-1905">
              <a:lnSpc>
                <a:spcPct val="107600"/>
              </a:lnSpc>
              <a:spcBef>
                <a:spcPts val="850"/>
              </a:spcBef>
            </a:pPr>
            <a:r>
              <a:rPr dirty="0" sz="1150">
                <a:solidFill>
                  <a:srgbClr val="5D5D5D"/>
                </a:solidFill>
                <a:latin typeface="Calibri"/>
                <a:cs typeface="Calibri"/>
              </a:rPr>
              <a:t>Design</a:t>
            </a:r>
            <a:r>
              <a:rPr dirty="0" sz="1150" spc="35">
                <a:solidFill>
                  <a:srgbClr val="5D5D5D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D5D5D"/>
                </a:solidFill>
                <a:latin typeface="Calibri"/>
                <a:cs typeface="Calibri"/>
              </a:rPr>
              <a:t>a</a:t>
            </a:r>
            <a:r>
              <a:rPr dirty="0" sz="1150" spc="-25">
                <a:solidFill>
                  <a:srgbClr val="5D5D5D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robust</a:t>
            </a:r>
            <a:r>
              <a:rPr dirty="0" sz="1150" spc="4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06060"/>
                </a:solidFill>
                <a:latin typeface="Calibri"/>
                <a:cs typeface="Calibri"/>
              </a:rPr>
              <a:t>ETL</a:t>
            </a:r>
            <a:r>
              <a:rPr dirty="0" sz="1150" spc="-2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95959"/>
                </a:solidFill>
                <a:latin typeface="Calibri"/>
                <a:cs typeface="Calibri"/>
              </a:rPr>
              <a:t>pipeline</a:t>
            </a:r>
            <a:r>
              <a:rPr dirty="0" sz="1150" spc="3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dirty="0" sz="1150" spc="-2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65656"/>
                </a:solidFill>
                <a:latin typeface="Calibri"/>
                <a:cs typeface="Calibri"/>
              </a:rPr>
              <a:t>Python </a:t>
            </a:r>
            <a:r>
              <a:rPr dirty="0" sz="1150">
                <a:solidFill>
                  <a:srgbClr val="505050"/>
                </a:solidFill>
                <a:latin typeface="Calibri"/>
                <a:cs typeface="Calibri"/>
              </a:rPr>
              <a:t>to</a:t>
            </a:r>
            <a:r>
              <a:rPr dirty="0" sz="1150" spc="-20">
                <a:solidFill>
                  <a:srgbClr val="505050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F4F4F"/>
                </a:solidFill>
                <a:latin typeface="Calibri"/>
                <a:cs typeface="Calibri"/>
              </a:rPr>
              <a:t>ingest,</a:t>
            </a:r>
            <a:r>
              <a:rPr dirty="0" sz="1150" spc="-4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45454"/>
                </a:solidFill>
                <a:latin typeface="Calibri"/>
                <a:cs typeface="Calibri"/>
              </a:rPr>
              <a:t>clean,</a:t>
            </a:r>
            <a:r>
              <a:rPr dirty="0" sz="1150" spc="-4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E5E5E"/>
                </a:solidFill>
                <a:latin typeface="Calibri"/>
                <a:cs typeface="Calibri"/>
              </a:rPr>
              <a:t>and</a:t>
            </a:r>
            <a:r>
              <a:rPr dirty="0" sz="1150" spc="-35">
                <a:solidFill>
                  <a:srgbClr val="5E5E5E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F4F4F"/>
                </a:solidFill>
                <a:latin typeface="Calibri"/>
                <a:cs typeface="Calibri"/>
              </a:rPr>
              <a:t>centralize</a:t>
            </a:r>
            <a:r>
              <a:rPr dirty="0" sz="1150" spc="15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E5E5E"/>
                </a:solidFill>
                <a:latin typeface="Calibri"/>
                <a:cs typeface="Calibri"/>
              </a:rPr>
              <a:t>raw</a:t>
            </a:r>
            <a:r>
              <a:rPr dirty="0" sz="1150" spc="-55">
                <a:solidFill>
                  <a:srgbClr val="5E5E5E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5B5B5B"/>
                </a:solidFill>
                <a:latin typeface="Calibri"/>
                <a:cs typeface="Calibri"/>
              </a:rPr>
              <a:t>CSV </a:t>
            </a:r>
            <a:r>
              <a:rPr dirty="0" sz="1150" spc="-10">
                <a:solidFill>
                  <a:srgbClr val="545454"/>
                </a:solidFill>
                <a:latin typeface="Calibri"/>
                <a:cs typeface="Calibri"/>
              </a:rPr>
              <a:t>feeds</a:t>
            </a:r>
            <a:r>
              <a:rPr dirty="0" sz="1150" spc="-2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65656"/>
                </a:solidFill>
                <a:latin typeface="Calibri"/>
                <a:cs typeface="Calibri"/>
              </a:rPr>
              <a:t>into</a:t>
            </a:r>
            <a:r>
              <a:rPr dirty="0" sz="1150" spc="-15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25252"/>
                </a:solidFill>
                <a:latin typeface="Calibri"/>
                <a:cs typeface="Calibri"/>
              </a:rPr>
              <a:t>a</a:t>
            </a:r>
            <a:r>
              <a:rPr dirty="0" sz="1150" spc="-5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95959"/>
                </a:solidFill>
                <a:latin typeface="Calibri"/>
                <a:cs typeface="Calibri"/>
              </a:rPr>
              <a:t>unified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4F4F4F"/>
                </a:solidFill>
                <a:latin typeface="Calibri"/>
                <a:cs typeface="Calibri"/>
              </a:rPr>
              <a:t>SQLite </a:t>
            </a:r>
            <a:r>
              <a:rPr dirty="0" sz="1150" spc="-10">
                <a:solidFill>
                  <a:srgbClr val="525252"/>
                </a:solidFill>
                <a:latin typeface="Calibri"/>
                <a:cs typeface="Calibri"/>
              </a:rPr>
              <a:t>star-schema </a:t>
            </a:r>
            <a:r>
              <a:rPr dirty="0" sz="1150" spc="-10">
                <a:solidFill>
                  <a:srgbClr val="565656"/>
                </a:solidFill>
                <a:latin typeface="Calibri"/>
                <a:cs typeface="Calibri"/>
              </a:rPr>
              <a:t>database.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16213" y="2085265"/>
            <a:ext cx="2399665" cy="112903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50">
                <a:solidFill>
                  <a:srgbClr val="0F0F0F"/>
                </a:solidFill>
                <a:latin typeface="Calibri"/>
                <a:cs typeface="Calibri"/>
              </a:rPr>
              <a:t>Quantitative</a:t>
            </a:r>
            <a:r>
              <a:rPr dirty="0" sz="1550" spc="19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1550" spc="65">
                <a:solidFill>
                  <a:srgbClr val="0E0E0E"/>
                </a:solidFill>
                <a:latin typeface="Calibri"/>
                <a:cs typeface="Calibri"/>
              </a:rPr>
              <a:t>Performance</a:t>
            </a:r>
            <a:endParaRPr sz="1550">
              <a:latin typeface="Calibri"/>
              <a:cs typeface="Calibri"/>
            </a:endParaRPr>
          </a:p>
          <a:p>
            <a:pPr marL="12700" marR="5080" indent="2540">
              <a:lnSpc>
                <a:spcPct val="107600"/>
              </a:lnSpc>
              <a:spcBef>
                <a:spcPts val="850"/>
              </a:spcBef>
            </a:pP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Compute</a:t>
            </a:r>
            <a:r>
              <a:rPr dirty="0" sz="1150" spc="3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44444"/>
                </a:solidFill>
                <a:latin typeface="Calibri"/>
                <a:cs typeface="Calibri"/>
              </a:rPr>
              <a:t>standardized</a:t>
            </a:r>
            <a:r>
              <a:rPr dirty="0" sz="1150" spc="4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95959"/>
                </a:solidFill>
                <a:latin typeface="Calibri"/>
                <a:cs typeface="Calibri"/>
              </a:rPr>
              <a:t>financial</a:t>
            </a:r>
            <a:r>
              <a:rPr dirty="0" sz="1150" spc="-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95959"/>
                </a:solidFill>
                <a:latin typeface="Calibri"/>
                <a:cs typeface="Calibri"/>
              </a:rPr>
              <a:t>metrics </a:t>
            </a:r>
            <a:r>
              <a:rPr dirty="0" sz="1150" spc="-20">
                <a:solidFill>
                  <a:srgbClr val="595959"/>
                </a:solidFill>
                <a:latin typeface="Calibri"/>
                <a:cs typeface="Calibri"/>
              </a:rPr>
              <a:t>(Alpha,</a:t>
            </a:r>
            <a:r>
              <a:rPr dirty="0" sz="1150" spc="-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575757"/>
                </a:solidFill>
                <a:latin typeface="Calibri"/>
                <a:cs typeface="Calibri"/>
              </a:rPr>
              <a:t>Beta,</a:t>
            </a:r>
            <a:r>
              <a:rPr dirty="0" sz="1150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D5D5D"/>
                </a:solidFill>
                <a:latin typeface="Calibri"/>
                <a:cs typeface="Calibri"/>
              </a:rPr>
              <a:t>CAGR, </a:t>
            </a:r>
            <a:r>
              <a:rPr dirty="0" sz="1150">
                <a:solidFill>
                  <a:srgbClr val="444444"/>
                </a:solidFill>
                <a:latin typeface="Calibri"/>
                <a:cs typeface="Calibri"/>
              </a:rPr>
              <a:t>and</a:t>
            </a:r>
            <a:r>
              <a:rPr dirty="0" sz="1150" spc="-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44444"/>
                </a:solidFill>
                <a:latin typeface="Calibri"/>
                <a:cs typeface="Calibri"/>
              </a:rPr>
              <a:t>Sharpe</a:t>
            </a:r>
            <a:r>
              <a:rPr dirty="0" sz="1150" spc="-1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4F4F4F"/>
                </a:solidFill>
                <a:latin typeface="Calibri"/>
                <a:cs typeface="Calibri"/>
              </a:rPr>
              <a:t>Ratio)</a:t>
            </a:r>
            <a:r>
              <a:rPr dirty="0" sz="1150" spc="-15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606060"/>
                </a:solidFill>
                <a:latin typeface="Calibri"/>
                <a:cs typeface="Calibri"/>
              </a:rPr>
              <a:t>to </a:t>
            </a:r>
            <a:r>
              <a:rPr dirty="0" sz="1150">
                <a:solidFill>
                  <a:srgbClr val="595959"/>
                </a:solidFill>
                <a:latin typeface="Calibri"/>
                <a:cs typeface="Calibri"/>
              </a:rPr>
              <a:t>build</a:t>
            </a:r>
            <a:r>
              <a:rPr dirty="0" sz="1150" spc="-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5B5B"/>
                </a:solidFill>
                <a:latin typeface="Calibri"/>
                <a:cs typeface="Calibri"/>
              </a:rPr>
              <a:t>an</a:t>
            </a:r>
            <a:r>
              <a:rPr dirty="0" sz="1150" spc="-30">
                <a:solidFill>
                  <a:srgbClr val="5B5B5B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565656"/>
                </a:solidFill>
                <a:latin typeface="Calibri"/>
                <a:cs typeface="Calibri"/>
              </a:rPr>
              <a:t>objective</a:t>
            </a:r>
            <a:r>
              <a:rPr dirty="0" sz="1150" spc="35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06060"/>
                </a:solidFill>
                <a:latin typeface="Calibri"/>
                <a:cs typeface="Calibri"/>
              </a:rPr>
              <a:t>Top</a:t>
            </a:r>
            <a:r>
              <a:rPr dirty="0" sz="1150" spc="-3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dirty="0" sz="1150" spc="-30">
                <a:solidFill>
                  <a:srgbClr val="545454"/>
                </a:solidFill>
                <a:latin typeface="Calibri"/>
                <a:cs typeface="Calibri"/>
              </a:rPr>
              <a:t>40 </a:t>
            </a:r>
            <a:r>
              <a:rPr dirty="0" sz="1150" spc="-20">
                <a:solidFill>
                  <a:srgbClr val="595959"/>
                </a:solidFill>
                <a:latin typeface="Calibri"/>
                <a:cs typeface="Calibri"/>
              </a:rPr>
              <a:t>Fund </a:t>
            </a:r>
            <a:r>
              <a:rPr dirty="0" sz="1150" spc="-10">
                <a:solidFill>
                  <a:srgbClr val="4B4B4B"/>
                </a:solidFill>
                <a:latin typeface="Calibri"/>
                <a:cs typeface="Calibri"/>
              </a:rPr>
              <a:t>Scorecard.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34362" y="2085265"/>
            <a:ext cx="2365375" cy="112903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85">
                <a:solidFill>
                  <a:srgbClr val="0F0F0F"/>
                </a:solidFill>
                <a:latin typeface="Calibri"/>
                <a:cs typeface="Calibri"/>
              </a:rPr>
              <a:t>Advanced </a:t>
            </a:r>
            <a:r>
              <a:rPr dirty="0" sz="1550" spc="100">
                <a:solidFill>
                  <a:srgbClr val="080808"/>
                </a:solidFill>
                <a:latin typeface="Calibri"/>
                <a:cs typeface="Calibri"/>
              </a:rPr>
              <a:t>Risk</a:t>
            </a:r>
            <a:r>
              <a:rPr dirty="0" sz="1550" spc="1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1550" spc="50">
                <a:latin typeface="Calibri"/>
                <a:cs typeface="Calibri"/>
              </a:rPr>
              <a:t>Analytics</a:t>
            </a:r>
            <a:endParaRPr sz="1550">
              <a:latin typeface="Calibri"/>
              <a:cs typeface="Calibri"/>
            </a:endParaRPr>
          </a:p>
          <a:p>
            <a:pPr marL="16510" marR="5080" indent="-1905">
              <a:lnSpc>
                <a:spcPct val="107600"/>
              </a:lnSpc>
              <a:spcBef>
                <a:spcPts val="850"/>
              </a:spcBef>
            </a:pPr>
            <a:r>
              <a:rPr dirty="0" sz="1150" spc="-45">
                <a:solidFill>
                  <a:srgbClr val="525252"/>
                </a:solidFill>
                <a:latin typeface="Calibri"/>
                <a:cs typeface="Calibri"/>
              </a:rPr>
              <a:t>Move</a:t>
            </a:r>
            <a:r>
              <a:rPr dirty="0" sz="1150" spc="15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B5B5B"/>
                </a:solidFill>
                <a:latin typeface="Calibri"/>
                <a:cs typeface="Calibri"/>
              </a:rPr>
              <a:t>beyond</a:t>
            </a:r>
            <a:r>
              <a:rPr dirty="0" sz="1150" spc="15">
                <a:solidFill>
                  <a:srgbClr val="5B5B5B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65656"/>
                </a:solidFill>
                <a:latin typeface="Calibri"/>
                <a:cs typeface="Calibri"/>
              </a:rPr>
              <a:t>basic</a:t>
            </a:r>
            <a:r>
              <a:rPr dirty="0" sz="1150" spc="-5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444444"/>
                </a:solidFill>
                <a:latin typeface="Calibri"/>
                <a:cs typeface="Calibri"/>
              </a:rPr>
              <a:t>volatility</a:t>
            </a:r>
            <a:r>
              <a:rPr dirty="0" sz="1150" spc="3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595959"/>
                </a:solidFill>
                <a:latin typeface="Calibri"/>
                <a:cs typeface="Calibri"/>
              </a:rPr>
              <a:t>by </a:t>
            </a:r>
            <a:r>
              <a:rPr dirty="0" sz="1150">
                <a:solidFill>
                  <a:srgbClr val="5B5B5B"/>
                </a:solidFill>
                <a:latin typeface="Calibri"/>
                <a:cs typeface="Calibri"/>
              </a:rPr>
              <a:t>modeling</a:t>
            </a:r>
            <a:r>
              <a:rPr dirty="0" sz="1150" spc="-5">
                <a:solidFill>
                  <a:srgbClr val="5B5B5B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45454"/>
                </a:solidFill>
                <a:latin typeface="Calibri"/>
                <a:cs typeface="Calibri"/>
              </a:rPr>
              <a:t>extreme</a:t>
            </a:r>
            <a:r>
              <a:rPr dirty="0" sz="115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95959"/>
                </a:solidFill>
                <a:latin typeface="Calibri"/>
                <a:cs typeface="Calibri"/>
              </a:rPr>
              <a:t>tail</a:t>
            </a:r>
            <a:r>
              <a:rPr dirty="0" sz="1150" spc="-4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65656"/>
                </a:solidFill>
                <a:latin typeface="Calibri"/>
                <a:cs typeface="Calibri"/>
              </a:rPr>
              <a:t>risk</a:t>
            </a:r>
            <a:r>
              <a:rPr dirty="0" sz="1150" spc="-7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4F4F4F"/>
                </a:solidFill>
                <a:latin typeface="Calibri"/>
                <a:cs typeface="Calibri"/>
              </a:rPr>
              <a:t>(H</a:t>
            </a:r>
            <a:r>
              <a:rPr dirty="0" sz="1150" spc="-10">
                <a:solidFill>
                  <a:srgbClr val="565656"/>
                </a:solidFill>
                <a:latin typeface="Calibri"/>
                <a:cs typeface="Calibri"/>
              </a:rPr>
              <a:t>istorical </a:t>
            </a:r>
            <a:r>
              <a:rPr dirty="0" sz="1150" spc="-30">
                <a:solidFill>
                  <a:srgbClr val="4F4F4F"/>
                </a:solidFill>
                <a:latin typeface="Calibri"/>
                <a:cs typeface="Calibri"/>
              </a:rPr>
              <a:t>VaR),</a:t>
            </a:r>
            <a:r>
              <a:rPr dirty="0" sz="1150" spc="-4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25252"/>
                </a:solidFill>
                <a:latin typeface="Calibri"/>
                <a:cs typeface="Calibri"/>
              </a:rPr>
              <a:t>portfolio</a:t>
            </a:r>
            <a:r>
              <a:rPr dirty="0" sz="1150" spc="3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464646"/>
                </a:solidFill>
                <a:latin typeface="Calibri"/>
                <a:cs typeface="Calibri"/>
              </a:rPr>
              <a:t>concentration</a:t>
            </a:r>
            <a:r>
              <a:rPr dirty="0" sz="1150" spc="1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606060"/>
                </a:solidFill>
                <a:latin typeface="Calibri"/>
                <a:cs typeface="Calibri"/>
              </a:rPr>
              <a:t>(HHI),</a:t>
            </a:r>
            <a:r>
              <a:rPr dirty="0" sz="115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5B5B5B"/>
                </a:solidFill>
                <a:latin typeface="Calibri"/>
                <a:cs typeface="Calibri"/>
              </a:rPr>
              <a:t>and </a:t>
            </a:r>
            <a:r>
              <a:rPr dirty="0" sz="1150" spc="-10">
                <a:solidFill>
                  <a:srgbClr val="444444"/>
                </a:solidFill>
                <a:latin typeface="Calibri"/>
                <a:cs typeface="Calibri"/>
              </a:rPr>
              <a:t>investor</a:t>
            </a:r>
            <a:r>
              <a:rPr dirty="0" sz="1150" spc="2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25252"/>
                </a:solidFill>
                <a:latin typeface="Calibri"/>
                <a:cs typeface="Calibri"/>
              </a:rPr>
              <a:t>SIP</a:t>
            </a:r>
            <a:r>
              <a:rPr dirty="0" sz="1150" spc="-25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464646"/>
                </a:solidFill>
                <a:latin typeface="Calibri"/>
                <a:cs typeface="Calibri"/>
              </a:rPr>
              <a:t>continuity.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771" y="809495"/>
            <a:ext cx="9162573" cy="3929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>
                <a:solidFill>
                  <a:srgbClr val="161616"/>
                </a:solidFill>
              </a:rPr>
              <a:t>ETL</a:t>
            </a:r>
            <a:r>
              <a:rPr dirty="0" sz="2550" spc="55">
                <a:solidFill>
                  <a:srgbClr val="161616"/>
                </a:solidFill>
              </a:rPr>
              <a:t>  </a:t>
            </a:r>
            <a:r>
              <a:rPr dirty="0" sz="2550" spc="-145"/>
              <a:t>&amp;</a:t>
            </a:r>
            <a:r>
              <a:rPr dirty="0" sz="2550" spc="-30"/>
              <a:t> </a:t>
            </a:r>
            <a:r>
              <a:rPr dirty="0" sz="2550" spc="105">
                <a:solidFill>
                  <a:srgbClr val="151515"/>
                </a:solidFill>
              </a:rPr>
              <a:t>Analytics</a:t>
            </a:r>
            <a:r>
              <a:rPr dirty="0" sz="2550" spc="125">
                <a:solidFill>
                  <a:srgbClr val="151515"/>
                </a:solidFill>
              </a:rPr>
              <a:t> </a:t>
            </a:r>
            <a:r>
              <a:rPr dirty="0" sz="2550" spc="80"/>
              <a:t>Architecture</a:t>
            </a:r>
            <a:endParaRPr sz="2550"/>
          </a:p>
        </p:txBody>
      </p:sp>
      <p:sp>
        <p:nvSpPr>
          <p:cNvPr id="4" name="object 4"/>
          <p:cNvSpPr txBox="1"/>
          <p:nvPr/>
        </p:nvSpPr>
        <p:spPr>
          <a:xfrm>
            <a:off x="496854" y="2655765"/>
            <a:ext cx="1945639" cy="10331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40005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111111"/>
                </a:solidFill>
                <a:latin typeface="Arial MT"/>
                <a:cs typeface="Arial MT"/>
              </a:rPr>
              <a:t>1.</a:t>
            </a:r>
            <a:r>
              <a:rPr dirty="0" sz="1200" spc="3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200" spc="105">
                <a:solidFill>
                  <a:srgbClr val="0F0F0F"/>
                </a:solidFill>
                <a:latin typeface="Arial MT"/>
                <a:cs typeface="Arial MT"/>
              </a:rPr>
              <a:t>Ingestion</a:t>
            </a:r>
            <a:r>
              <a:rPr dirty="0" sz="1200" spc="13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001123"/>
                </a:solidFill>
                <a:latin typeface="Arial MT"/>
                <a:cs typeface="Arial MT"/>
              </a:rPr>
              <a:t>&amp;</a:t>
            </a:r>
            <a:r>
              <a:rPr dirty="0" sz="1200" spc="55">
                <a:solidFill>
                  <a:srgbClr val="001123"/>
                </a:solidFill>
                <a:latin typeface="Arial MT"/>
                <a:cs typeface="Arial MT"/>
              </a:rPr>
              <a:t> </a:t>
            </a:r>
            <a:r>
              <a:rPr dirty="0" sz="1200" spc="95">
                <a:solidFill>
                  <a:srgbClr val="0F0F0F"/>
                </a:solidFill>
                <a:latin typeface="Arial MT"/>
                <a:cs typeface="Arial MT"/>
              </a:rPr>
              <a:t>Cleaning</a:t>
            </a:r>
            <a:endParaRPr sz="1200">
              <a:latin typeface="Arial MT"/>
              <a:cs typeface="Arial MT"/>
            </a:endParaRPr>
          </a:p>
          <a:p>
            <a:pPr algn="ctr" marL="12700" marR="5080" indent="-3175">
              <a:lnSpc>
                <a:spcPct val="128000"/>
              </a:lnSpc>
              <a:spcBef>
                <a:spcPts val="530"/>
              </a:spcBef>
            </a:pPr>
            <a:r>
              <a:rPr dirty="0" sz="950" spc="-10">
                <a:solidFill>
                  <a:srgbClr val="545454"/>
                </a:solidFill>
                <a:latin typeface="Arial MT"/>
                <a:cs typeface="Arial MT"/>
              </a:rPr>
              <a:t>Pandas/Num</a:t>
            </a:r>
            <a:r>
              <a:rPr dirty="0" sz="950" spc="-12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595959"/>
                </a:solidFill>
                <a:latin typeface="Arial MT"/>
                <a:cs typeface="Arial MT"/>
              </a:rPr>
              <a:t>Py </a:t>
            </a:r>
            <a:r>
              <a:rPr dirty="0" sz="950">
                <a:solidFill>
                  <a:srgbClr val="595959"/>
                </a:solidFill>
                <a:latin typeface="Arial MT"/>
                <a:cs typeface="Arial MT"/>
              </a:rPr>
              <a:t>utilized </a:t>
            </a:r>
            <a:r>
              <a:rPr dirty="0" sz="950">
                <a:solidFill>
                  <a:srgbClr val="565656"/>
                </a:solidFill>
                <a:latin typeface="Arial MT"/>
                <a:cs typeface="Arial MT"/>
              </a:rPr>
              <a:t>to </a:t>
            </a:r>
            <a:r>
              <a:rPr dirty="0" sz="950" spc="-10">
                <a:solidFill>
                  <a:srgbClr val="565656"/>
                </a:solidFill>
                <a:latin typeface="Arial MT"/>
                <a:cs typeface="Arial MT"/>
              </a:rPr>
              <a:t>forward-</a:t>
            </a:r>
            <a:r>
              <a:rPr dirty="0" sz="950">
                <a:solidFill>
                  <a:srgbClr val="5D5D5D"/>
                </a:solidFill>
                <a:latin typeface="Arial MT"/>
                <a:cs typeface="Arial MT"/>
              </a:rPr>
              <a:t>fill</a:t>
            </a:r>
            <a:r>
              <a:rPr dirty="0" sz="950" spc="-5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95959"/>
                </a:solidFill>
                <a:latin typeface="Arial MT"/>
                <a:cs typeface="Arial MT"/>
              </a:rPr>
              <a:t>missing </a:t>
            </a:r>
            <a:r>
              <a:rPr dirty="0" sz="950" spc="-50">
                <a:solidFill>
                  <a:srgbClr val="545454"/>
                </a:solidFill>
                <a:latin typeface="Arial MT"/>
                <a:cs typeface="Arial MT"/>
              </a:rPr>
              <a:t>NAVs,</a:t>
            </a:r>
            <a:r>
              <a:rPr dirty="0" sz="950" spc="3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B5B5B"/>
                </a:solidFill>
                <a:latin typeface="Arial MT"/>
                <a:cs typeface="Arial MT"/>
              </a:rPr>
              <a:t>enforce</a:t>
            </a:r>
            <a:r>
              <a:rPr dirty="0" sz="950" spc="5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950" spc="-55">
                <a:solidFill>
                  <a:srgbClr val="595959"/>
                </a:solidFill>
                <a:latin typeface="Arial MT"/>
                <a:cs typeface="Arial MT"/>
              </a:rPr>
              <a:t>ISO</a:t>
            </a:r>
            <a:r>
              <a:rPr dirty="0" sz="950" spc="6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5B5B5B"/>
                </a:solidFill>
                <a:latin typeface="Arial MT"/>
                <a:cs typeface="Arial MT"/>
              </a:rPr>
              <a:t>date </a:t>
            </a:r>
            <a:r>
              <a:rPr dirty="0" sz="1000" spc="-10">
                <a:solidFill>
                  <a:srgbClr val="565656"/>
                </a:solidFill>
                <a:latin typeface="Arial MT"/>
                <a:cs typeface="Arial MT"/>
              </a:rPr>
              <a:t>formats,</a:t>
            </a:r>
            <a:r>
              <a:rPr dirty="0" sz="1000" spc="2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545454"/>
                </a:solidFill>
                <a:latin typeface="Arial MT"/>
                <a:cs typeface="Arial MT"/>
              </a:rPr>
              <a:t>and</a:t>
            </a:r>
            <a:r>
              <a:rPr dirty="0" sz="1000" spc="-3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000" spc="-50">
                <a:solidFill>
                  <a:srgbClr val="575757"/>
                </a:solidFill>
                <a:latin typeface="Arial MT"/>
                <a:cs typeface="Arial MT"/>
              </a:rPr>
              <a:t>cap</a:t>
            </a:r>
            <a:r>
              <a:rPr dirty="0" sz="1000" spc="-15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1000" spc="-55">
                <a:solidFill>
                  <a:srgbClr val="575757"/>
                </a:solidFill>
                <a:latin typeface="Arial MT"/>
                <a:cs typeface="Arial MT"/>
              </a:rPr>
              <a:t>severe</a:t>
            </a:r>
            <a:r>
              <a:rPr dirty="0" sz="1000" spc="-15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4F4F4F"/>
                </a:solidFill>
                <a:latin typeface="Arial MT"/>
                <a:cs typeface="Arial MT"/>
              </a:rPr>
              <a:t>transaction </a:t>
            </a:r>
            <a:r>
              <a:rPr dirty="0" sz="950" spc="-10">
                <a:solidFill>
                  <a:srgbClr val="565656"/>
                </a:solidFill>
                <a:latin typeface="Arial MT"/>
                <a:cs typeface="Arial MT"/>
              </a:rPr>
              <a:t>outliers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74589" y="2655765"/>
            <a:ext cx="1934845" cy="10471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86995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latin typeface="Arial MT"/>
                <a:cs typeface="Arial MT"/>
              </a:rPr>
              <a:t>2.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80">
                <a:solidFill>
                  <a:srgbClr val="151515"/>
                </a:solidFill>
                <a:latin typeface="Arial MT"/>
                <a:cs typeface="Arial MT"/>
              </a:rPr>
              <a:t>Centralized</a:t>
            </a:r>
            <a:r>
              <a:rPr dirty="0" sz="1200" spc="235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200" spc="70">
                <a:solidFill>
                  <a:srgbClr val="161616"/>
                </a:solidFill>
                <a:latin typeface="Arial MT"/>
                <a:cs typeface="Arial MT"/>
              </a:rPr>
              <a:t>Storage</a:t>
            </a:r>
            <a:endParaRPr sz="1200">
              <a:latin typeface="Arial MT"/>
              <a:cs typeface="Arial MT"/>
            </a:endParaRPr>
          </a:p>
          <a:p>
            <a:pPr marL="12700" marR="5080" indent="96520">
              <a:lnSpc>
                <a:spcPct val="137200"/>
              </a:lnSpc>
              <a:spcBef>
                <a:spcPts val="425"/>
              </a:spcBef>
            </a:pPr>
            <a:r>
              <a:rPr dirty="0" sz="950" spc="-10">
                <a:solidFill>
                  <a:srgbClr val="595959"/>
                </a:solidFill>
                <a:latin typeface="Arial MT"/>
                <a:cs typeface="Arial MT"/>
              </a:rPr>
              <a:t>Data</a:t>
            </a:r>
            <a:r>
              <a:rPr dirty="0" sz="950" spc="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95959"/>
                </a:solidFill>
                <a:latin typeface="Arial MT"/>
                <a:cs typeface="Arial MT"/>
              </a:rPr>
              <a:t>structured</a:t>
            </a:r>
            <a:r>
              <a:rPr dirty="0" sz="950" spc="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25252"/>
                </a:solidFill>
                <a:latin typeface="Arial MT"/>
                <a:cs typeface="Arial MT"/>
              </a:rPr>
              <a:t>into</a:t>
            </a:r>
            <a:r>
              <a:rPr dirty="0" sz="950" spc="3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75757"/>
                </a:solidFill>
                <a:latin typeface="Arial MT"/>
                <a:cs typeface="Arial MT"/>
              </a:rPr>
              <a:t>a</a:t>
            </a:r>
            <a:r>
              <a:rPr dirty="0" sz="950" spc="30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525252"/>
                </a:solidFill>
                <a:latin typeface="Arial MT"/>
                <a:cs typeface="Arial MT"/>
              </a:rPr>
              <a:t>relational </a:t>
            </a:r>
            <a:r>
              <a:rPr dirty="0" sz="900" spc="-100">
                <a:solidFill>
                  <a:srgbClr val="565656"/>
                </a:solidFill>
                <a:latin typeface="Arial MT"/>
                <a:cs typeface="Arial MT"/>
              </a:rPr>
              <a:t>SQ</a:t>
            </a:r>
            <a:r>
              <a:rPr dirty="0" sz="900" spc="-13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525252"/>
                </a:solidFill>
                <a:latin typeface="Arial MT"/>
                <a:cs typeface="Arial MT"/>
              </a:rPr>
              <a:t>Lite</a:t>
            </a:r>
            <a:r>
              <a:rPr dirty="0" sz="900" spc="-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565656"/>
                </a:solidFill>
                <a:latin typeface="Arial MT"/>
                <a:cs typeface="Arial MT"/>
              </a:rPr>
              <a:t>database</a:t>
            </a:r>
            <a:r>
              <a:rPr dirty="0" sz="900" spc="1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900" spc="-50">
                <a:solidFill>
                  <a:srgbClr val="5B5B5B"/>
                </a:solidFill>
                <a:latin typeface="Arial MT"/>
                <a:cs typeface="Arial MT"/>
              </a:rPr>
              <a:t>(b</a:t>
            </a:r>
            <a:r>
              <a:rPr dirty="0" sz="900" spc="-155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575757"/>
                </a:solidFill>
                <a:latin typeface="Arial MT"/>
                <a:cs typeface="Arial MT"/>
              </a:rPr>
              <a:t>tue</a:t>
            </a:r>
            <a:r>
              <a:rPr dirty="0" sz="900" spc="-140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900" spc="-20">
                <a:solidFill>
                  <a:srgbClr val="606060"/>
                </a:solidFill>
                <a:latin typeface="Arial MT"/>
                <a:cs typeface="Arial MT"/>
              </a:rPr>
              <a:t>s</a:t>
            </a:r>
            <a:r>
              <a:rPr dirty="0" sz="900" spc="-20">
                <a:solidFill>
                  <a:srgbClr val="595959"/>
                </a:solidFill>
                <a:latin typeface="Arial MT"/>
                <a:cs typeface="Arial MT"/>
              </a:rPr>
              <a:t>I</a:t>
            </a:r>
            <a:r>
              <a:rPr dirty="0" sz="900" spc="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900" spc="-95">
                <a:solidFill>
                  <a:srgbClr val="545454"/>
                </a:solidFill>
                <a:latin typeface="Arial MT"/>
                <a:cs typeface="Arial MT"/>
              </a:rPr>
              <a:t>oc</a:t>
            </a:r>
            <a:r>
              <a:rPr dirty="0" sz="900" spc="-11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5B5B5B"/>
                </a:solidFill>
                <a:latin typeface="Arial MT"/>
                <a:cs typeface="Arial MT"/>
              </a:rPr>
              <a:t>k</a:t>
            </a:r>
            <a:r>
              <a:rPr dirty="0" sz="900" spc="235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76767"/>
                </a:solidFill>
                <a:latin typeface="Arial MT"/>
                <a:cs typeface="Arial MT"/>
              </a:rPr>
              <a:t>rrf</a:t>
            </a:r>
            <a:r>
              <a:rPr dirty="0" sz="900" spc="-50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46464"/>
                </a:solidFill>
                <a:latin typeface="Arial MT"/>
                <a:cs typeface="Arial MT"/>
              </a:rPr>
              <a:t>.</a:t>
            </a:r>
            <a:r>
              <a:rPr dirty="0" sz="900" spc="-110">
                <a:solidFill>
                  <a:srgbClr val="646464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5B5B5B"/>
                </a:solidFill>
                <a:latin typeface="Arial MT"/>
                <a:cs typeface="Arial MT"/>
              </a:rPr>
              <a:t>db) </a:t>
            </a:r>
            <a:r>
              <a:rPr dirty="0" sz="1000" spc="-20">
                <a:solidFill>
                  <a:srgbClr val="525252"/>
                </a:solidFill>
                <a:latin typeface="Arial MT"/>
                <a:cs typeface="Arial MT"/>
              </a:rPr>
              <a:t>using</a:t>
            </a:r>
            <a:r>
              <a:rPr dirty="0" sz="1000" spc="-4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000" spc="-135">
                <a:solidFill>
                  <a:srgbClr val="5D5D5D"/>
                </a:solidFill>
                <a:latin typeface="Arial MT"/>
                <a:cs typeface="Arial MT"/>
              </a:rPr>
              <a:t>a</a:t>
            </a:r>
            <a:r>
              <a:rPr dirty="0" sz="1000" spc="45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dirty="0" sz="1000" spc="-50">
                <a:solidFill>
                  <a:srgbClr val="525252"/>
                </a:solidFill>
                <a:latin typeface="Arial MT"/>
                <a:cs typeface="Arial MT"/>
              </a:rPr>
              <a:t>star-</a:t>
            </a:r>
            <a:r>
              <a:rPr dirty="0" sz="1000" spc="-45">
                <a:solidFill>
                  <a:srgbClr val="525252"/>
                </a:solidFill>
                <a:latin typeface="Arial MT"/>
                <a:cs typeface="Arial MT"/>
              </a:rPr>
              <a:t>schema</a:t>
            </a:r>
            <a:r>
              <a:rPr dirty="0" sz="1000" spc="4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000" spc="-65">
                <a:solidFill>
                  <a:srgbClr val="565656"/>
                </a:solidFill>
                <a:latin typeface="Arial MT"/>
                <a:cs typeface="Arial MT"/>
              </a:rPr>
              <a:t>(Facts</a:t>
            </a:r>
            <a:r>
              <a:rPr dirty="0" sz="1000" spc="1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565656"/>
                </a:solidFill>
                <a:latin typeface="Arial MT"/>
                <a:cs typeface="Arial MT"/>
              </a:rPr>
              <a:t>linked</a:t>
            </a:r>
            <a:r>
              <a:rPr dirty="0" sz="100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525252"/>
                </a:solidFill>
                <a:latin typeface="Arial MT"/>
                <a:cs typeface="Arial MT"/>
              </a:rPr>
              <a:t>to</a:t>
            </a:r>
            <a:endParaRPr sz="1000">
              <a:latin typeface="Arial MT"/>
              <a:cs typeface="Arial MT"/>
            </a:endParaRPr>
          </a:p>
          <a:p>
            <a:pPr marL="659765">
              <a:lnSpc>
                <a:spcPct val="100000"/>
              </a:lnSpc>
              <a:spcBef>
                <a:spcPts val="385"/>
              </a:spcBef>
            </a:pPr>
            <a:r>
              <a:rPr dirty="0" sz="900">
                <a:solidFill>
                  <a:srgbClr val="595959"/>
                </a:solidFill>
                <a:latin typeface="Arial MT"/>
                <a:cs typeface="Arial MT"/>
              </a:rPr>
              <a:t>Dim</a:t>
            </a:r>
            <a:r>
              <a:rPr dirty="0" sz="900" spc="36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5D5D5D"/>
                </a:solidFill>
                <a:latin typeface="Arial MT"/>
                <a:cs typeface="Arial MT"/>
              </a:rPr>
              <a:t>Fund).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35362" y="2655765"/>
            <a:ext cx="1949450" cy="10318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03200">
              <a:lnSpc>
                <a:spcPct val="100000"/>
              </a:lnSpc>
              <a:spcBef>
                <a:spcPts val="135"/>
              </a:spcBef>
            </a:pPr>
            <a:r>
              <a:rPr dirty="0" sz="1200" spc="50">
                <a:solidFill>
                  <a:srgbClr val="161616"/>
                </a:solidFill>
                <a:latin typeface="Arial MT"/>
                <a:cs typeface="Arial MT"/>
              </a:rPr>
              <a:t>3.</a:t>
            </a:r>
            <a:r>
              <a:rPr dirty="0" sz="1200" spc="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200" spc="110">
                <a:solidFill>
                  <a:srgbClr val="151515"/>
                </a:solidFill>
                <a:latin typeface="Arial MT"/>
                <a:cs typeface="Arial MT"/>
              </a:rPr>
              <a:t>Analytics</a:t>
            </a:r>
            <a:r>
              <a:rPr dirty="0" sz="1200" spc="12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200" spc="105">
                <a:solidFill>
                  <a:srgbClr val="161616"/>
                </a:solidFill>
                <a:latin typeface="Arial MT"/>
                <a:cs typeface="Arial MT"/>
              </a:rPr>
              <a:t>Engine</a:t>
            </a:r>
            <a:endParaRPr sz="1200">
              <a:latin typeface="Arial MT"/>
              <a:cs typeface="Arial MT"/>
            </a:endParaRPr>
          </a:p>
          <a:p>
            <a:pPr algn="ctr" marL="12700" marR="5080" indent="5715">
              <a:lnSpc>
                <a:spcPct val="128099"/>
              </a:lnSpc>
              <a:spcBef>
                <a:spcPts val="530"/>
              </a:spcBef>
            </a:pPr>
            <a:r>
              <a:rPr dirty="0" sz="950">
                <a:solidFill>
                  <a:srgbClr val="565656"/>
                </a:solidFill>
                <a:latin typeface="Arial MT"/>
                <a:cs typeface="Arial MT"/>
              </a:rPr>
              <a:t>Python</a:t>
            </a:r>
            <a:r>
              <a:rPr dirty="0" sz="950" spc="4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B5B5B"/>
                </a:solidFill>
                <a:latin typeface="Arial MT"/>
                <a:cs typeface="Arial MT"/>
              </a:rPr>
              <a:t>modules</a:t>
            </a:r>
            <a:r>
              <a:rPr dirty="0" sz="950" spc="45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575757"/>
                </a:solidFill>
                <a:latin typeface="Arial MT"/>
                <a:cs typeface="Arial MT"/>
              </a:rPr>
              <a:t>execute</a:t>
            </a:r>
            <a:r>
              <a:rPr dirty="0" sz="950" spc="35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565656"/>
                </a:solidFill>
                <a:latin typeface="Arial MT"/>
                <a:cs typeface="Arial MT"/>
              </a:rPr>
              <a:t>CAPM </a:t>
            </a:r>
            <a:r>
              <a:rPr dirty="0" sz="950">
                <a:solidFill>
                  <a:srgbClr val="565656"/>
                </a:solidFill>
                <a:latin typeface="Arial MT"/>
                <a:cs typeface="Arial MT"/>
              </a:rPr>
              <a:t>formulas</a:t>
            </a:r>
            <a:r>
              <a:rPr dirty="0" sz="950" spc="8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950" spc="6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25252"/>
                </a:solidFill>
                <a:latin typeface="Arial MT"/>
                <a:cs typeface="Arial MT"/>
              </a:rPr>
              <a:t>historical</a:t>
            </a:r>
            <a:r>
              <a:rPr dirty="0" sz="950" spc="12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565656"/>
                </a:solidFill>
                <a:latin typeface="Arial MT"/>
                <a:cs typeface="Arial MT"/>
              </a:rPr>
              <a:t>simulations, </a:t>
            </a:r>
            <a:r>
              <a:rPr dirty="0" sz="1000">
                <a:solidFill>
                  <a:srgbClr val="565656"/>
                </a:solidFill>
                <a:latin typeface="Arial MT"/>
                <a:cs typeface="Arial MT"/>
              </a:rPr>
              <a:t>outputting</a:t>
            </a:r>
            <a:r>
              <a:rPr dirty="0" sz="1000" spc="-2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B5B5B"/>
                </a:solidFill>
                <a:latin typeface="Arial MT"/>
                <a:cs typeface="Arial MT"/>
              </a:rPr>
              <a:t>the</a:t>
            </a:r>
            <a:r>
              <a:rPr dirty="0" sz="1000" spc="-35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575757"/>
                </a:solidFill>
                <a:latin typeface="Arial MT"/>
                <a:cs typeface="Arial MT"/>
              </a:rPr>
              <a:t>master</a:t>
            </a:r>
            <a:endParaRPr sz="1000">
              <a:latin typeface="Arial MT"/>
              <a:cs typeface="Arial MT"/>
            </a:endParaRPr>
          </a:p>
          <a:p>
            <a:pPr algn="ctr" marL="12065">
              <a:lnSpc>
                <a:spcPct val="100000"/>
              </a:lnSpc>
              <a:spcBef>
                <a:spcPts val="385"/>
              </a:spcBef>
            </a:pPr>
            <a:r>
              <a:rPr dirty="0" sz="900">
                <a:solidFill>
                  <a:srgbClr val="5B5B5B"/>
                </a:solidFill>
                <a:latin typeface="Arial MT"/>
                <a:cs typeface="Arial MT"/>
              </a:rPr>
              <a:t>fund</a:t>
            </a:r>
            <a:r>
              <a:rPr dirty="0" sz="900" spc="315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F4F4F"/>
                </a:solidFill>
                <a:latin typeface="Arial MT"/>
                <a:cs typeface="Arial MT"/>
              </a:rPr>
              <a:t>scorecard</a:t>
            </a:r>
            <a:r>
              <a:rPr dirty="0" sz="900" spc="-8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5D5D5D"/>
                </a:solidFill>
                <a:latin typeface="Arial MT"/>
                <a:cs typeface="Arial MT"/>
              </a:rPr>
              <a:t>.</a:t>
            </a:r>
            <a:r>
              <a:rPr dirty="0" sz="900" spc="-85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dirty="0" sz="900" spc="-20">
                <a:solidFill>
                  <a:srgbClr val="5B5B5B"/>
                </a:solidFill>
                <a:latin typeface="Arial MT"/>
                <a:cs typeface="Arial MT"/>
              </a:rPr>
              <a:t>csv.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11784" y="2655765"/>
            <a:ext cx="1934845" cy="10331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42570">
              <a:lnSpc>
                <a:spcPct val="100000"/>
              </a:lnSpc>
              <a:spcBef>
                <a:spcPts val="135"/>
              </a:spcBef>
            </a:pPr>
            <a:r>
              <a:rPr dirty="0" sz="1200" i="1">
                <a:solidFill>
                  <a:srgbClr val="131313"/>
                </a:solidFill>
                <a:latin typeface="Arial"/>
                <a:cs typeface="Arial"/>
              </a:rPr>
              <a:t>4.</a:t>
            </a:r>
            <a:r>
              <a:rPr dirty="0" sz="1200" spc="2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200" spc="65">
                <a:solidFill>
                  <a:srgbClr val="161616"/>
                </a:solidFill>
                <a:latin typeface="Arial MT"/>
                <a:cs typeface="Arial MT"/>
              </a:rPr>
              <a:t>BI</a:t>
            </a:r>
            <a:r>
              <a:rPr dirty="0" sz="120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200" spc="85">
                <a:solidFill>
                  <a:srgbClr val="131313"/>
                </a:solidFill>
                <a:latin typeface="Arial MT"/>
                <a:cs typeface="Arial MT"/>
              </a:rPr>
              <a:t>Visualization</a:t>
            </a:r>
            <a:endParaRPr sz="1200">
              <a:latin typeface="Arial MT"/>
              <a:cs typeface="Arial MT"/>
            </a:endParaRPr>
          </a:p>
          <a:p>
            <a:pPr algn="ctr" marL="12700" marR="5080">
              <a:lnSpc>
                <a:spcPct val="130300"/>
              </a:lnSpc>
              <a:spcBef>
                <a:spcPts val="505"/>
              </a:spcBef>
            </a:pPr>
            <a:r>
              <a:rPr dirty="0" sz="950">
                <a:solidFill>
                  <a:srgbClr val="565656"/>
                </a:solidFill>
                <a:latin typeface="Arial MT"/>
                <a:cs typeface="Arial MT"/>
              </a:rPr>
              <a:t>Power</a:t>
            </a:r>
            <a:r>
              <a:rPr dirty="0" sz="950" spc="1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95959"/>
                </a:solidFill>
                <a:latin typeface="Arial MT"/>
                <a:cs typeface="Arial MT"/>
              </a:rPr>
              <a:t>BI</a:t>
            </a:r>
            <a:r>
              <a:rPr dirty="0" sz="95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75757"/>
                </a:solidFill>
                <a:latin typeface="Arial MT"/>
                <a:cs typeface="Arial MT"/>
              </a:rPr>
              <a:t>connects</a:t>
            </a:r>
            <a:r>
              <a:rPr dirty="0" sz="950" spc="10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D5D5D"/>
                </a:solidFill>
                <a:latin typeface="Arial MT"/>
                <a:cs typeface="Arial MT"/>
              </a:rPr>
              <a:t>to</a:t>
            </a:r>
            <a:r>
              <a:rPr dirty="0" sz="950" spc="-25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B5B5B"/>
                </a:solidFill>
                <a:latin typeface="Arial MT"/>
                <a:cs typeface="Arial MT"/>
              </a:rPr>
              <a:t>the</a:t>
            </a:r>
            <a:r>
              <a:rPr dirty="0" sz="950" spc="-25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575757"/>
                </a:solidFill>
                <a:latin typeface="Arial MT"/>
                <a:cs typeface="Arial MT"/>
              </a:rPr>
              <a:t>processed </a:t>
            </a:r>
            <a:r>
              <a:rPr dirty="0" sz="950" spc="-10">
                <a:solidFill>
                  <a:srgbClr val="565656"/>
                </a:solidFill>
                <a:latin typeface="Arial MT"/>
                <a:cs typeface="Arial MT"/>
              </a:rPr>
              <a:t>datasets</a:t>
            </a:r>
            <a:r>
              <a:rPr dirty="0" sz="950" spc="1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75757"/>
                </a:solidFill>
                <a:latin typeface="Arial MT"/>
                <a:cs typeface="Arial MT"/>
              </a:rPr>
              <a:t>to</a:t>
            </a:r>
            <a:r>
              <a:rPr dirty="0" sz="950" spc="5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45454"/>
                </a:solidFill>
                <a:latin typeface="Arial MT"/>
                <a:cs typeface="Arial MT"/>
              </a:rPr>
              <a:t>deliver</a:t>
            </a:r>
            <a:r>
              <a:rPr dirty="0" sz="950" spc="7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E5E5E"/>
                </a:solidFill>
                <a:latin typeface="Arial MT"/>
                <a:cs typeface="Arial MT"/>
              </a:rPr>
              <a:t>a</a:t>
            </a:r>
            <a:r>
              <a:rPr dirty="0" sz="950" spc="5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dirty="0" sz="950" spc="-30">
                <a:solidFill>
                  <a:srgbClr val="565656"/>
                </a:solidFill>
                <a:latin typeface="Arial MT"/>
                <a:cs typeface="Arial MT"/>
              </a:rPr>
              <a:t>4-</a:t>
            </a:r>
            <a:r>
              <a:rPr dirty="0" sz="950" spc="-20">
                <a:solidFill>
                  <a:srgbClr val="565656"/>
                </a:solidFill>
                <a:latin typeface="Arial MT"/>
                <a:cs typeface="Arial MT"/>
              </a:rPr>
              <a:t>page </a:t>
            </a:r>
            <a:r>
              <a:rPr dirty="0" sz="950">
                <a:solidFill>
                  <a:srgbClr val="565656"/>
                </a:solidFill>
                <a:latin typeface="Arial MT"/>
                <a:cs typeface="Arial MT"/>
              </a:rPr>
              <a:t>interactive dashboard </a:t>
            </a:r>
            <a:r>
              <a:rPr dirty="0" sz="950">
                <a:solidFill>
                  <a:srgbClr val="5D5D5D"/>
                </a:solidFill>
                <a:latin typeface="Arial MT"/>
                <a:cs typeface="Arial MT"/>
              </a:rPr>
              <a:t>for </a:t>
            </a:r>
            <a:r>
              <a:rPr dirty="0" sz="950" spc="-20">
                <a:solidFill>
                  <a:srgbClr val="565656"/>
                </a:solidFill>
                <a:latin typeface="Arial MT"/>
                <a:cs typeface="Arial MT"/>
              </a:rPr>
              <a:t>non-</a:t>
            </a:r>
            <a:r>
              <a:rPr dirty="0" sz="950">
                <a:solidFill>
                  <a:srgbClr val="595959"/>
                </a:solidFill>
                <a:latin typeface="Arial MT"/>
                <a:cs typeface="Arial MT"/>
              </a:rPr>
              <a:t>technical</a:t>
            </a:r>
            <a:r>
              <a:rPr dirty="0" sz="95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565656"/>
                </a:solidFill>
                <a:latin typeface="Arial MT"/>
                <a:cs typeface="Arial MT"/>
              </a:rPr>
              <a:t>stakeholders.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09495"/>
            <a:ext cx="10058400" cy="3929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440114"/>
            <a:ext cx="10054590" cy="287020"/>
          </a:xfrm>
          <a:custGeom>
            <a:avLst/>
            <a:gdLst/>
            <a:ahLst/>
            <a:cxnLst/>
            <a:rect l="l" t="t" r="r" b="b"/>
            <a:pathLst>
              <a:path w="10054590" h="287020">
                <a:moveTo>
                  <a:pt x="10054469" y="286860"/>
                </a:moveTo>
                <a:lnTo>
                  <a:pt x="0" y="286860"/>
                </a:lnTo>
                <a:lnTo>
                  <a:pt x="0" y="0"/>
                </a:lnTo>
                <a:lnTo>
                  <a:pt x="10054469" y="0"/>
                </a:lnTo>
                <a:lnTo>
                  <a:pt x="10054469" y="286860"/>
                </a:lnTo>
                <a:close/>
              </a:path>
            </a:pathLst>
          </a:custGeom>
          <a:solidFill>
            <a:srgbClr val="0F1F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120">
                <a:solidFill>
                  <a:srgbClr val="FFFFFF"/>
                </a:solidFill>
              </a:rPr>
              <a:t>Data</a:t>
            </a:r>
            <a:r>
              <a:rPr dirty="0" sz="2550" spc="110">
                <a:solidFill>
                  <a:srgbClr val="FFFFFF"/>
                </a:solidFill>
              </a:rPr>
              <a:t> </a:t>
            </a:r>
            <a:r>
              <a:rPr dirty="0" sz="2550" spc="114">
                <a:solidFill>
                  <a:srgbClr val="FFFFFF"/>
                </a:solidFill>
              </a:rPr>
              <a:t>Processing</a:t>
            </a:r>
            <a:r>
              <a:rPr dirty="0" sz="2550" spc="395">
                <a:solidFill>
                  <a:srgbClr val="FFFFFF"/>
                </a:solidFill>
              </a:rPr>
              <a:t> </a:t>
            </a:r>
            <a:r>
              <a:rPr dirty="0" sz="2550" spc="130">
                <a:solidFill>
                  <a:srgbClr val="FFFFFF"/>
                </a:solidFill>
              </a:rPr>
              <a:t>Scale</a:t>
            </a:r>
            <a:r>
              <a:rPr dirty="0" sz="2550" spc="80">
                <a:solidFill>
                  <a:srgbClr val="FFFFFF"/>
                </a:solidFill>
              </a:rPr>
              <a:t> </a:t>
            </a:r>
            <a:r>
              <a:rPr dirty="0" sz="2550">
                <a:solidFill>
                  <a:srgbClr val="FFFFFF"/>
                </a:solidFill>
              </a:rPr>
              <a:t>(2022-</a:t>
            </a:r>
            <a:r>
              <a:rPr dirty="0" sz="2550" spc="-10">
                <a:solidFill>
                  <a:srgbClr val="FFFFFF"/>
                </a:solidFill>
              </a:rPr>
              <a:t>2025)</a:t>
            </a:r>
            <a:endParaRPr sz="2550"/>
          </a:p>
        </p:txBody>
      </p:sp>
      <p:sp>
        <p:nvSpPr>
          <p:cNvPr id="5" name="object 5"/>
          <p:cNvSpPr/>
          <p:nvPr/>
        </p:nvSpPr>
        <p:spPr>
          <a:xfrm>
            <a:off x="0" y="4951285"/>
            <a:ext cx="10054590" cy="169545"/>
          </a:xfrm>
          <a:custGeom>
            <a:avLst/>
            <a:gdLst/>
            <a:ahLst/>
            <a:cxnLst/>
            <a:rect l="l" t="t" r="r" b="b"/>
            <a:pathLst>
              <a:path w="10054590" h="169545">
                <a:moveTo>
                  <a:pt x="10054469" y="168972"/>
                </a:moveTo>
                <a:lnTo>
                  <a:pt x="0" y="168972"/>
                </a:lnTo>
                <a:lnTo>
                  <a:pt x="0" y="0"/>
                </a:lnTo>
                <a:lnTo>
                  <a:pt x="10054469" y="0"/>
                </a:lnTo>
                <a:lnTo>
                  <a:pt x="10054469" y="168972"/>
                </a:lnTo>
                <a:close/>
              </a:path>
            </a:pathLst>
          </a:custGeom>
          <a:solidFill>
            <a:srgbClr val="0F1F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64756" y="4884662"/>
            <a:ext cx="6915150" cy="236854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50" spc="-50">
                <a:solidFill>
                  <a:srgbClr val="E4E4E4"/>
                </a:solidFill>
                <a:latin typeface="Arial MT"/>
                <a:cs typeface="Arial MT"/>
              </a:rPr>
              <a:t>Rigorous</a:t>
            </a:r>
            <a:r>
              <a:rPr dirty="0" sz="1350" spc="1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1350" spc="-20">
                <a:solidFill>
                  <a:srgbClr val="E6E6E6"/>
                </a:solidFill>
                <a:latin typeface="Arial MT"/>
                <a:cs typeface="Arial MT"/>
              </a:rPr>
              <a:t>programmatic</a:t>
            </a:r>
            <a:r>
              <a:rPr dirty="0" sz="1350" spc="65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1350" spc="-45">
                <a:solidFill>
                  <a:srgbClr val="E4E4E4"/>
                </a:solidFill>
                <a:latin typeface="Arial MT"/>
                <a:cs typeface="Arial MT"/>
              </a:rPr>
              <a:t>cleaning</a:t>
            </a:r>
            <a:r>
              <a:rPr dirty="0" sz="1350" spc="-5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1350" spc="-30">
                <a:solidFill>
                  <a:srgbClr val="DFDFDF"/>
                </a:solidFill>
                <a:latin typeface="Arial MT"/>
                <a:cs typeface="Arial MT"/>
              </a:rPr>
              <a:t>ensured</a:t>
            </a:r>
            <a:r>
              <a:rPr dirty="0" sz="1350" spc="-3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350" spc="-25">
                <a:solidFill>
                  <a:srgbClr val="E4E4E4"/>
                </a:solidFill>
                <a:latin typeface="Arial MT"/>
                <a:cs typeface="Arial MT"/>
              </a:rPr>
              <a:t>high</a:t>
            </a:r>
            <a:r>
              <a:rPr dirty="0" sz="1350" spc="-6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1350" spc="-25">
                <a:solidFill>
                  <a:srgbClr val="E2E2E2"/>
                </a:solidFill>
                <a:latin typeface="Arial MT"/>
                <a:cs typeface="Arial MT"/>
              </a:rPr>
              <a:t>relational</a:t>
            </a:r>
            <a:r>
              <a:rPr dirty="0" sz="1350" spc="-3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E2E2E2"/>
                </a:solidFill>
                <a:latin typeface="Arial MT"/>
                <a:cs typeface="Arial MT"/>
              </a:rPr>
              <a:t>integrity</a:t>
            </a:r>
            <a:r>
              <a:rPr dirty="0" sz="1350" spc="-2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1350" spc="-20">
                <a:solidFill>
                  <a:srgbClr val="E2E2E2"/>
                </a:solidFill>
                <a:latin typeface="Arial MT"/>
                <a:cs typeface="Arial MT"/>
              </a:rPr>
              <a:t>before</a:t>
            </a:r>
            <a:r>
              <a:rPr dirty="0" sz="1350" spc="-5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1350" spc="-35">
                <a:solidFill>
                  <a:srgbClr val="E4E4E4"/>
                </a:solidFill>
                <a:latin typeface="Arial MT"/>
                <a:cs typeface="Arial MT"/>
              </a:rPr>
              <a:t>analytics</a:t>
            </a:r>
            <a:r>
              <a:rPr dirty="0" sz="1350" spc="-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1350" spc="-10">
                <a:solidFill>
                  <a:srgbClr val="DFDFDF"/>
                </a:solidFill>
                <a:latin typeface="Arial MT"/>
                <a:cs typeface="Arial MT"/>
              </a:rPr>
              <a:t>commenced.</a:t>
            </a:r>
            <a:endParaRPr sz="1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771" y="809495"/>
            <a:ext cx="9162573" cy="39295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3629" y="1532540"/>
          <a:ext cx="9219565" cy="2878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9685"/>
                <a:gridCol w="1426210"/>
                <a:gridCol w="1835784"/>
                <a:gridCol w="1562735"/>
                <a:gridCol w="1094739"/>
                <a:gridCol w="1934845"/>
              </a:tblGrid>
              <a:tr h="4673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96215">
                        <a:lnSpc>
                          <a:spcPct val="100000"/>
                        </a:lnSpc>
                      </a:pPr>
                      <a:r>
                        <a:rPr dirty="0" sz="850" spc="9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AM</a:t>
                      </a:r>
                      <a:r>
                        <a:rPr dirty="0" sz="850" spc="-1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FI</a:t>
                      </a:r>
                      <a:r>
                        <a:rPr dirty="0" sz="850" spc="15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CO</a:t>
                      </a:r>
                      <a:r>
                        <a:rPr dirty="0" sz="850" spc="-8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4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DE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38735">
                    <a:solidFill>
                      <a:srgbClr val="111C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378460">
                        <a:lnSpc>
                          <a:spcPct val="100000"/>
                        </a:lnSpc>
                      </a:pPr>
                      <a:r>
                        <a:rPr dirty="0" sz="850" spc="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CATEGO</a:t>
                      </a:r>
                      <a:r>
                        <a:rPr dirty="0" sz="850" spc="1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RY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38735">
                    <a:solidFill>
                      <a:srgbClr val="111C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372110">
                        <a:lnSpc>
                          <a:spcPct val="100000"/>
                        </a:lnSpc>
                      </a:pPr>
                      <a:r>
                        <a:rPr dirty="0" sz="850" spc="7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ALP</a:t>
                      </a:r>
                      <a:r>
                        <a:rPr dirty="0" sz="850" spc="-13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7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HA</a:t>
                      </a:r>
                      <a:r>
                        <a:rPr dirty="0" sz="850" spc="1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(EXC</a:t>
                      </a:r>
                      <a:r>
                        <a:rPr dirty="0" sz="850" spc="-1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ESS)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38735">
                    <a:solidFill>
                      <a:srgbClr val="111C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441959">
                        <a:lnSpc>
                          <a:spcPct val="100000"/>
                        </a:lnSpc>
                      </a:pPr>
                      <a:r>
                        <a:rPr dirty="0" sz="850" spc="6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r>
                        <a:rPr dirty="0" sz="850" spc="-1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ETA</a:t>
                      </a:r>
                      <a:r>
                        <a:rPr dirty="0" sz="850" spc="2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7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(VO</a:t>
                      </a:r>
                      <a:r>
                        <a:rPr dirty="0" sz="850" spc="-8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L.)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38735">
                    <a:solidFill>
                      <a:srgbClr val="111C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387350">
                        <a:lnSpc>
                          <a:spcPct val="100000"/>
                        </a:lnSpc>
                      </a:pPr>
                      <a:r>
                        <a:rPr dirty="0" sz="8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CAG</a:t>
                      </a:r>
                      <a:r>
                        <a:rPr dirty="0" sz="850" spc="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R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38735">
                    <a:solidFill>
                      <a:srgbClr val="111C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330200">
                        <a:lnSpc>
                          <a:spcPct val="100000"/>
                        </a:lnSpc>
                      </a:pPr>
                      <a:r>
                        <a:rPr dirty="0" sz="850" spc="-4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r>
                        <a:rPr dirty="0" sz="850" spc="-14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5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HAR</a:t>
                      </a:r>
                      <a:r>
                        <a:rPr dirty="0" sz="850" spc="-9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PE</a:t>
                      </a:r>
                      <a:r>
                        <a:rPr dirty="0" sz="850" spc="21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RATIO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38735">
                    <a:solidFill>
                      <a:srgbClr val="111C1D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marL="198755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dirty="0" sz="1150" spc="-10">
                          <a:solidFill>
                            <a:srgbClr val="282828"/>
                          </a:solidFill>
                          <a:latin typeface="Calibri"/>
                          <a:cs typeface="Calibri"/>
                        </a:rPr>
                        <a:t>118632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60020"/>
                </a:tc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dirty="0" sz="115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Large</a:t>
                      </a:r>
                      <a:r>
                        <a:rPr dirty="0" sz="1150" spc="295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25">
                          <a:solidFill>
                            <a:srgbClr val="282828"/>
                          </a:solidFill>
                          <a:latin typeface="Calibri"/>
                          <a:cs typeface="Calibri"/>
                        </a:rPr>
                        <a:t>Cap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600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74650">
                        <a:lnSpc>
                          <a:spcPct val="100000"/>
                        </a:lnSpc>
                      </a:pPr>
                      <a:r>
                        <a:rPr dirty="0" sz="1100" spc="-20">
                          <a:solidFill>
                            <a:srgbClr val="1C1C1C"/>
                          </a:solidFill>
                          <a:latin typeface="Calibri"/>
                          <a:cs typeface="Calibri"/>
                        </a:rPr>
                        <a:t>0.04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439420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dirty="0" sz="1150" spc="-2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0.85</a:t>
                      </a:r>
                      <a:endParaRPr sz="1150">
                        <a:latin typeface="Consolas"/>
                        <a:cs typeface="Consolas"/>
                      </a:endParaRPr>
                    </a:p>
                  </a:txBody>
                  <a:tcPr marL="0" marR="0" marB="0" marT="1600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91795">
                        <a:lnSpc>
                          <a:spcPct val="100000"/>
                        </a:lnSpc>
                      </a:pPr>
                      <a:r>
                        <a:rPr dirty="0" sz="1100" spc="-1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18.2%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513715">
                <a:tc>
                  <a:txBody>
                    <a:bodyPr/>
                    <a:lstStyle/>
                    <a:p>
                      <a:pPr marL="198755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150" spc="-10">
                          <a:solidFill>
                            <a:srgbClr val="232323"/>
                          </a:solidFill>
                          <a:latin typeface="Calibri"/>
                          <a:cs typeface="Calibri"/>
                        </a:rPr>
                        <a:t>119092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50495"/>
                </a:tc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15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Multi</a:t>
                      </a:r>
                      <a:r>
                        <a:rPr dirty="0" sz="1150" spc="17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25">
                          <a:solidFill>
                            <a:srgbClr val="2F2F2F"/>
                          </a:solidFill>
                          <a:latin typeface="Calibri"/>
                          <a:cs typeface="Calibri"/>
                        </a:rPr>
                        <a:t>Cap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50495"/>
                </a:tc>
                <a:tc>
                  <a:txBody>
                    <a:bodyPr/>
                    <a:lstStyle/>
                    <a:p>
                      <a:pPr marL="37465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150" spc="-2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0.02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50495"/>
                </a:tc>
                <a:tc>
                  <a:txBody>
                    <a:bodyPr/>
                    <a:lstStyle/>
                    <a:p>
                      <a:pPr marL="43942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150" spc="-20">
                          <a:solidFill>
                            <a:srgbClr val="1C1C1C"/>
                          </a:solidFill>
                          <a:latin typeface="Consolas"/>
                          <a:cs typeface="Consolas"/>
                        </a:rPr>
                        <a:t>0.92</a:t>
                      </a:r>
                      <a:endParaRPr sz="1150">
                        <a:latin typeface="Consolas"/>
                        <a:cs typeface="Consolas"/>
                      </a:endParaRPr>
                    </a:p>
                  </a:txBody>
                  <a:tcPr marL="0" marR="0" marB="0" marT="150495"/>
                </a:tc>
                <a:tc>
                  <a:txBody>
                    <a:bodyPr/>
                    <a:lstStyle/>
                    <a:p>
                      <a:pPr marL="391795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150" spc="-10">
                          <a:solidFill>
                            <a:srgbClr val="282828"/>
                          </a:solidFill>
                          <a:latin typeface="Calibri"/>
                          <a:cs typeface="Calibri"/>
                        </a:rPr>
                        <a:t>15.4%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504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512445">
                <a:tc>
                  <a:txBody>
                    <a:bodyPr/>
                    <a:lstStyle/>
                    <a:p>
                      <a:pPr marL="198755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dirty="0" sz="1150" spc="-1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120503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54940"/>
                </a:tc>
                <a:tc>
                  <a:txBody>
                    <a:bodyPr/>
                    <a:lstStyle/>
                    <a:p>
                      <a:pPr marL="381635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dirty="0" sz="125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Mid</a:t>
                      </a:r>
                      <a:r>
                        <a:rPr dirty="0" sz="1250" spc="-5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25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Cap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422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74650">
                        <a:lnSpc>
                          <a:spcPct val="100000"/>
                        </a:lnSpc>
                      </a:pPr>
                      <a:r>
                        <a:rPr dirty="0" sz="1100" spc="-20">
                          <a:solidFill>
                            <a:srgbClr val="1D1D1D"/>
                          </a:solidFill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441325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dirty="0" sz="1150" spc="-20">
                          <a:solidFill>
                            <a:srgbClr val="282828"/>
                          </a:solidFill>
                          <a:latin typeface="Calibri"/>
                          <a:cs typeface="Calibri"/>
                        </a:rPr>
                        <a:t>1.05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549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91795">
                        <a:lnSpc>
                          <a:spcPct val="100000"/>
                        </a:lnSpc>
                      </a:pPr>
                      <a:r>
                        <a:rPr dirty="0" sz="1100" spc="-10">
                          <a:solidFill>
                            <a:srgbClr val="282828"/>
                          </a:solidFill>
                          <a:latin typeface="Calibri"/>
                          <a:cs typeface="Calibri"/>
                        </a:rPr>
                        <a:t>14.</a:t>
                      </a:r>
                      <a:r>
                        <a:rPr dirty="0" sz="1100" spc="-10">
                          <a:solidFill>
                            <a:srgbClr val="343434"/>
                          </a:solidFill>
                          <a:latin typeface="Calibri"/>
                          <a:cs typeface="Calibri"/>
                        </a:rPr>
                        <a:t>1%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30835">
                        <a:lnSpc>
                          <a:spcPct val="100000"/>
                        </a:lnSpc>
                      </a:pPr>
                      <a:r>
                        <a:rPr dirty="0" sz="1100" spc="-2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1.20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</a:tr>
              <a:tr h="519430">
                <a:tc>
                  <a:txBody>
                    <a:bodyPr/>
                    <a:lstStyle/>
                    <a:p>
                      <a:pPr marL="198755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r>
                        <a:rPr dirty="0" sz="1150" spc="-1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119551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6065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82905">
                        <a:lnSpc>
                          <a:spcPct val="100000"/>
                        </a:lnSpc>
                      </a:pPr>
                      <a:r>
                        <a:rPr dirty="0" sz="1100" spc="75">
                          <a:solidFill>
                            <a:srgbClr val="2D2D2D"/>
                          </a:solidFill>
                          <a:latin typeface="Calibri"/>
                          <a:cs typeface="Calibri"/>
                        </a:rPr>
                        <a:t>Small</a:t>
                      </a:r>
                      <a:r>
                        <a:rPr dirty="0" sz="1100" spc="145">
                          <a:solidFill>
                            <a:srgbClr val="2D2D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65">
                          <a:solidFill>
                            <a:srgbClr val="2F2F2F"/>
                          </a:solidFill>
                          <a:latin typeface="Calibri"/>
                          <a:cs typeface="Calibri"/>
                        </a:rPr>
                        <a:t>Cap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635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71475">
                        <a:lnSpc>
                          <a:spcPct val="100000"/>
                        </a:lnSpc>
                      </a:pPr>
                      <a:r>
                        <a:rPr dirty="0" sz="1100" spc="-10">
                          <a:solidFill>
                            <a:srgbClr val="232323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100" spc="-20">
                          <a:solidFill>
                            <a:srgbClr val="232323"/>
                          </a:solidFill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6350"/>
                </a:tc>
                <a:tc>
                  <a:txBody>
                    <a:bodyPr/>
                    <a:lstStyle/>
                    <a:p>
                      <a:pPr marL="443865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r>
                        <a:rPr dirty="0" sz="1150" spc="-20">
                          <a:solidFill>
                            <a:srgbClr val="131313"/>
                          </a:solidFill>
                          <a:latin typeface="Consolas"/>
                          <a:cs typeface="Consolas"/>
                        </a:rPr>
                        <a:t>1.18</a:t>
                      </a:r>
                      <a:endParaRPr sz="1150">
                        <a:latin typeface="Consolas"/>
                        <a:cs typeface="Consolas"/>
                      </a:endParaRPr>
                    </a:p>
                  </a:txBody>
                  <a:tcPr marL="0" marR="0" marB="0" marT="16065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91795">
                        <a:lnSpc>
                          <a:spcPct val="100000"/>
                        </a:lnSpc>
                      </a:pPr>
                      <a:r>
                        <a:rPr dirty="0" sz="1100" spc="-1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12.8%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6350"/>
                </a:tc>
                <a:tc>
                  <a:txBody>
                    <a:bodyPr/>
                    <a:lstStyle/>
                    <a:p>
                      <a:pPr marL="31686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dirty="0" sz="1250" spc="-20">
                          <a:solidFill>
                            <a:srgbClr val="CF625D"/>
                          </a:solidFill>
                          <a:latin typeface="Courier New"/>
                          <a:cs typeface="Courier New"/>
                        </a:rPr>
                        <a:t>0.80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147955"/>
                </a:tc>
              </a:tr>
              <a:tr h="337185">
                <a:tc>
                  <a:txBody>
                    <a:bodyPr/>
                    <a:lstStyle/>
                    <a:p>
                      <a:pPr marL="198755">
                        <a:lnSpc>
                          <a:spcPts val="1360"/>
                        </a:lnSpc>
                        <a:spcBef>
                          <a:spcPts val="1195"/>
                        </a:spcBef>
                      </a:pPr>
                      <a:r>
                        <a:rPr dirty="0" sz="1150" spc="-10">
                          <a:solidFill>
                            <a:srgbClr val="232323"/>
                          </a:solidFill>
                          <a:latin typeface="Calibri"/>
                          <a:cs typeface="Calibri"/>
                        </a:rPr>
                        <a:t>120841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51765"/>
                </a:tc>
                <a:tc>
                  <a:txBody>
                    <a:bodyPr/>
                    <a:lstStyle/>
                    <a:p>
                      <a:pPr marL="382270">
                        <a:lnSpc>
                          <a:spcPts val="1410"/>
                        </a:lnSpc>
                        <a:spcBef>
                          <a:spcPts val="1145"/>
                        </a:spcBef>
                      </a:pPr>
                      <a:r>
                        <a:rPr dirty="0" sz="1200" spc="-10">
                          <a:solidFill>
                            <a:srgbClr val="232323"/>
                          </a:solidFill>
                          <a:latin typeface="Calibri"/>
                          <a:cs typeface="Calibri"/>
                        </a:rPr>
                        <a:t>Sectoral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45415"/>
                </a:tc>
                <a:tc>
                  <a:txBody>
                    <a:bodyPr/>
                    <a:lstStyle/>
                    <a:p>
                      <a:pPr marL="374650">
                        <a:lnSpc>
                          <a:spcPts val="1410"/>
                        </a:lnSpc>
                        <a:spcBef>
                          <a:spcPts val="1145"/>
                        </a:spcBef>
                      </a:pPr>
                      <a:r>
                        <a:rPr dirty="0" sz="1200" spc="-10">
                          <a:solidFill>
                            <a:srgbClr val="282828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20">
                          <a:solidFill>
                            <a:srgbClr val="282828"/>
                          </a:solidFill>
                          <a:latin typeface="Calibri"/>
                          <a:cs typeface="Calibri"/>
                        </a:rPr>
                        <a:t>0.03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45415"/>
                </a:tc>
                <a:tc>
                  <a:txBody>
                    <a:bodyPr/>
                    <a:lstStyle/>
                    <a:p>
                      <a:pPr marL="441325">
                        <a:lnSpc>
                          <a:spcPts val="1360"/>
                        </a:lnSpc>
                        <a:spcBef>
                          <a:spcPts val="1195"/>
                        </a:spcBef>
                      </a:pPr>
                      <a:r>
                        <a:rPr dirty="0" sz="1150" spc="-2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1.25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51765"/>
                </a:tc>
                <a:tc>
                  <a:txBody>
                    <a:bodyPr/>
                    <a:lstStyle/>
                    <a:p>
                      <a:pPr marL="390525">
                        <a:lnSpc>
                          <a:spcPts val="1360"/>
                        </a:lnSpc>
                        <a:spcBef>
                          <a:spcPts val="1195"/>
                        </a:spcBef>
                      </a:pPr>
                      <a:r>
                        <a:rPr dirty="0" sz="1150" spc="-20">
                          <a:solidFill>
                            <a:srgbClr val="242424"/>
                          </a:solidFill>
                          <a:latin typeface="Times New Roman"/>
                          <a:cs typeface="Times New Roman"/>
                        </a:rPr>
                        <a:t>9.5%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1765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410"/>
                        </a:lnSpc>
                        <a:spcBef>
                          <a:spcPts val="1145"/>
                        </a:spcBef>
                      </a:pPr>
                      <a:r>
                        <a:rPr dirty="0" sz="1200">
                          <a:solidFill>
                            <a:srgbClr val="C1595D"/>
                          </a:solidFill>
                          <a:latin typeface="Calibri"/>
                          <a:cs typeface="Calibri"/>
                        </a:rPr>
                        <a:t>0.60</a:t>
                      </a:r>
                      <a:r>
                        <a:rPr dirty="0" sz="1200" spc="5">
                          <a:solidFill>
                            <a:srgbClr val="C1595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BA7779"/>
                          </a:solidFill>
                          <a:latin typeface="Calibri"/>
                          <a:cs typeface="Calibri"/>
                        </a:rPr>
                        <a:t>(Laggard)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45415"/>
                </a:tc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81072" y="2216289"/>
            <a:ext cx="275034" cy="1060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23145" y="2727137"/>
            <a:ext cx="243601" cy="106098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175">
                <a:solidFill>
                  <a:srgbClr val="131313"/>
                </a:solidFill>
              </a:rPr>
              <a:t>Fund</a:t>
            </a:r>
            <a:r>
              <a:rPr dirty="0" sz="2550" spc="85">
                <a:solidFill>
                  <a:srgbClr val="131313"/>
                </a:solidFill>
              </a:rPr>
              <a:t> </a:t>
            </a:r>
            <a:r>
              <a:rPr dirty="0" sz="2550" spc="90"/>
              <a:t>Scorecard:</a:t>
            </a:r>
            <a:r>
              <a:rPr dirty="0" sz="2550" spc="140"/>
              <a:t> </a:t>
            </a:r>
            <a:r>
              <a:rPr dirty="0" sz="2550" spc="75">
                <a:solidFill>
                  <a:srgbClr val="181818"/>
                </a:solidFill>
              </a:rPr>
              <a:t>Top</a:t>
            </a:r>
            <a:r>
              <a:rPr dirty="0" sz="2550" spc="40">
                <a:solidFill>
                  <a:srgbClr val="181818"/>
                </a:solidFill>
              </a:rPr>
              <a:t> </a:t>
            </a:r>
            <a:r>
              <a:rPr dirty="0" sz="2550" spc="60">
                <a:solidFill>
                  <a:srgbClr val="0F0F0F"/>
                </a:solidFill>
              </a:rPr>
              <a:t>vs</a:t>
            </a:r>
            <a:r>
              <a:rPr dirty="0" sz="2550" spc="285">
                <a:solidFill>
                  <a:srgbClr val="0F0F0F"/>
                </a:solidFill>
              </a:rPr>
              <a:t> </a:t>
            </a:r>
            <a:r>
              <a:rPr dirty="0" sz="2550" spc="110">
                <a:solidFill>
                  <a:srgbClr val="131313"/>
                </a:solidFill>
              </a:rPr>
              <a:t>Bottom</a:t>
            </a:r>
            <a:r>
              <a:rPr dirty="0" sz="2550" spc="145">
                <a:solidFill>
                  <a:srgbClr val="131313"/>
                </a:solidFill>
              </a:rPr>
              <a:t> </a:t>
            </a:r>
            <a:r>
              <a:rPr dirty="0" sz="2550" spc="75">
                <a:solidFill>
                  <a:srgbClr val="0F0F0F"/>
                </a:solidFill>
              </a:rPr>
              <a:t>Performers</a:t>
            </a:r>
            <a:endParaRPr sz="2550"/>
          </a:p>
        </p:txBody>
      </p:sp>
      <p:sp>
        <p:nvSpPr>
          <p:cNvPr id="7" name="object 7"/>
          <p:cNvSpPr txBox="1"/>
          <p:nvPr/>
        </p:nvSpPr>
        <p:spPr>
          <a:xfrm>
            <a:off x="456201" y="1153079"/>
            <a:ext cx="694245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>
                <a:solidFill>
                  <a:srgbClr val="262626"/>
                </a:solidFill>
                <a:latin typeface="Calibri"/>
                <a:cs typeface="Calibri"/>
              </a:rPr>
              <a:t>Analysis</a:t>
            </a:r>
            <a:r>
              <a:rPr dirty="0" sz="1150" spc="31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282828"/>
                </a:solidFill>
                <a:latin typeface="Calibri"/>
                <a:cs typeface="Calibri"/>
              </a:rPr>
              <a:t>of</a:t>
            </a:r>
            <a:r>
              <a:rPr dirty="0" sz="1150" spc="18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282828"/>
                </a:solidFill>
                <a:latin typeface="Calibri"/>
                <a:cs typeface="Calibri"/>
              </a:rPr>
              <a:t>the</a:t>
            </a:r>
            <a:r>
              <a:rPr dirty="0" sz="1150" spc="21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1150" spc="55">
                <a:solidFill>
                  <a:srgbClr val="282828"/>
                </a:solidFill>
                <a:latin typeface="Calibri"/>
                <a:cs typeface="Calibri"/>
              </a:rPr>
              <a:t>Top</a:t>
            </a:r>
            <a:r>
              <a:rPr dirty="0" sz="1150" spc="22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343434"/>
                </a:solidFill>
                <a:latin typeface="Calibri"/>
                <a:cs typeface="Calibri"/>
              </a:rPr>
              <a:t>40</a:t>
            </a:r>
            <a:r>
              <a:rPr dirty="0" sz="1150" spc="15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1150" spc="50">
                <a:solidFill>
                  <a:srgbClr val="262626"/>
                </a:solidFill>
                <a:latin typeface="Calibri"/>
                <a:cs typeface="Calibri"/>
              </a:rPr>
              <a:t>funds</a:t>
            </a:r>
            <a:r>
              <a:rPr dirty="0" sz="1150" spc="3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262626"/>
                </a:solidFill>
                <a:latin typeface="Calibri"/>
                <a:cs typeface="Calibri"/>
              </a:rPr>
              <a:t>revealed</a:t>
            </a:r>
            <a:r>
              <a:rPr dirty="0" sz="1150" spc="27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31313"/>
                </a:solidFill>
                <a:latin typeface="Calibri"/>
                <a:cs typeface="Calibri"/>
              </a:rPr>
              <a:t>that</a:t>
            </a:r>
            <a:r>
              <a:rPr dirty="0" sz="1150" spc="22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262626"/>
                </a:solidFill>
                <a:latin typeface="Calibri"/>
                <a:cs typeface="Calibri"/>
              </a:rPr>
              <a:t>Large</a:t>
            </a:r>
            <a:r>
              <a:rPr dirty="0" sz="1150" spc="23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212121"/>
                </a:solidFill>
                <a:latin typeface="Calibri"/>
                <a:cs typeface="Calibri"/>
              </a:rPr>
              <a:t>Cap</a:t>
            </a:r>
            <a:r>
              <a:rPr dirty="0" sz="1150" spc="204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50" spc="50">
                <a:solidFill>
                  <a:srgbClr val="262626"/>
                </a:solidFill>
                <a:latin typeface="Calibri"/>
                <a:cs typeface="Calibri"/>
              </a:rPr>
              <a:t>funds</a:t>
            </a:r>
            <a:r>
              <a:rPr dirty="0" sz="1150" spc="30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232323"/>
                </a:solidFill>
                <a:latin typeface="Calibri"/>
                <a:cs typeface="Calibri"/>
              </a:rPr>
              <a:t>offered</a:t>
            </a:r>
            <a:r>
              <a:rPr dirty="0" sz="1150" spc="28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242424"/>
                </a:solidFill>
                <a:latin typeface="Calibri"/>
                <a:cs typeface="Calibri"/>
              </a:rPr>
              <a:t>the</a:t>
            </a:r>
            <a:r>
              <a:rPr dirty="0" sz="1150" spc="22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150" spc="65">
                <a:solidFill>
                  <a:srgbClr val="232323"/>
                </a:solidFill>
                <a:latin typeface="Calibri"/>
                <a:cs typeface="Calibri"/>
              </a:rPr>
              <a:t>most</a:t>
            </a:r>
            <a:r>
              <a:rPr dirty="0" sz="1150" spc="204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232323"/>
                </a:solidFill>
                <a:latin typeface="Calibri"/>
                <a:cs typeface="Calibri"/>
              </a:rPr>
              <a:t>stable</a:t>
            </a:r>
            <a:r>
              <a:rPr dirty="0" sz="1150" spc="254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31313"/>
                </a:solidFill>
                <a:latin typeface="Calibri"/>
                <a:cs typeface="Calibri"/>
              </a:rPr>
              <a:t>risk-adjusted</a:t>
            </a:r>
            <a:r>
              <a:rPr dirty="0" sz="1150" spc="305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232323"/>
                </a:solidFill>
                <a:latin typeface="Calibri"/>
                <a:cs typeface="Calibri"/>
              </a:rPr>
              <a:t>returns.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258" y="2868602"/>
            <a:ext cx="8203882" cy="15246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771" y="809495"/>
            <a:ext cx="9162573" cy="3929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065">
              <a:lnSpc>
                <a:spcPct val="100000"/>
              </a:lnSpc>
              <a:spcBef>
                <a:spcPts val="120"/>
              </a:spcBef>
            </a:pPr>
            <a:r>
              <a:rPr dirty="0" spc="135">
                <a:solidFill>
                  <a:srgbClr val="161616"/>
                </a:solidFill>
              </a:rPr>
              <a:t>Dynamic</a:t>
            </a:r>
            <a:r>
              <a:rPr dirty="0" spc="175">
                <a:solidFill>
                  <a:srgbClr val="161616"/>
                </a:solidFill>
              </a:rPr>
              <a:t> </a:t>
            </a:r>
            <a:r>
              <a:rPr dirty="0">
                <a:solidFill>
                  <a:srgbClr val="161616"/>
                </a:solidFill>
              </a:rPr>
              <a:t>Volatility:</a:t>
            </a:r>
            <a:r>
              <a:rPr dirty="0" spc="90">
                <a:solidFill>
                  <a:srgbClr val="161616"/>
                </a:solidFill>
              </a:rPr>
              <a:t> </a:t>
            </a:r>
            <a:r>
              <a:rPr dirty="0" spc="105">
                <a:solidFill>
                  <a:srgbClr val="161616"/>
                </a:solidFill>
              </a:rPr>
              <a:t>90-</a:t>
            </a:r>
            <a:r>
              <a:rPr dirty="0" spc="130">
                <a:solidFill>
                  <a:srgbClr val="161616"/>
                </a:solidFill>
              </a:rPr>
              <a:t>Day</a:t>
            </a:r>
            <a:r>
              <a:rPr dirty="0" spc="165">
                <a:solidFill>
                  <a:srgbClr val="161616"/>
                </a:solidFill>
              </a:rPr>
              <a:t> </a:t>
            </a:r>
            <a:r>
              <a:rPr dirty="0" spc="75">
                <a:solidFill>
                  <a:srgbClr val="131313"/>
                </a:solidFill>
              </a:rPr>
              <a:t>Rolling</a:t>
            </a:r>
            <a:r>
              <a:rPr dirty="0" spc="295">
                <a:solidFill>
                  <a:srgbClr val="131313"/>
                </a:solidFill>
              </a:rPr>
              <a:t> </a:t>
            </a:r>
            <a:r>
              <a:rPr dirty="0" spc="95">
                <a:solidFill>
                  <a:srgbClr val="161616"/>
                </a:solidFill>
              </a:rPr>
              <a:t>Sharpe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6457" y="1107179"/>
            <a:ext cx="8966835" cy="4813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4445">
              <a:lnSpc>
                <a:spcPct val="124600"/>
              </a:lnSpc>
              <a:spcBef>
                <a:spcPts val="90"/>
              </a:spcBef>
            </a:pP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Point-in-time</a:t>
            </a:r>
            <a:r>
              <a:rPr dirty="0" sz="1200" spc="28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metrics</a:t>
            </a:r>
            <a:r>
              <a:rPr dirty="0" sz="1200" spc="31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A2A2A"/>
                </a:solidFill>
                <a:latin typeface="Calibri"/>
                <a:cs typeface="Calibri"/>
              </a:rPr>
              <a:t>are</a:t>
            </a:r>
            <a:r>
              <a:rPr dirty="0" sz="1200" spc="18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deceptive.</a:t>
            </a:r>
            <a:r>
              <a:rPr dirty="0" sz="1200" spc="29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82828"/>
                </a:solidFill>
                <a:latin typeface="Calibri"/>
                <a:cs typeface="Calibri"/>
              </a:rPr>
              <a:t>Rolling</a:t>
            </a:r>
            <a:r>
              <a:rPr dirty="0" sz="1200" spc="23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32323"/>
                </a:solidFill>
                <a:latin typeface="Calibri"/>
                <a:cs typeface="Calibri"/>
              </a:rPr>
              <a:t>analytics</a:t>
            </a:r>
            <a:r>
              <a:rPr dirty="0" sz="1200" spc="29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62626"/>
                </a:solidFill>
                <a:latin typeface="Calibri"/>
                <a:cs typeface="Calibri"/>
              </a:rPr>
              <a:t>prove</a:t>
            </a:r>
            <a:r>
              <a:rPr dirty="0" sz="1200" spc="24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62626"/>
                </a:solidFill>
                <a:latin typeface="Calibri"/>
                <a:cs typeface="Calibri"/>
              </a:rPr>
              <a:t>that</a:t>
            </a:r>
            <a:r>
              <a:rPr dirty="0" sz="1200" spc="15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32323"/>
                </a:solidFill>
                <a:latin typeface="Calibri"/>
                <a:cs typeface="Calibri"/>
              </a:rPr>
              <a:t>risk-adjusted</a:t>
            </a:r>
            <a:r>
              <a:rPr dirty="0" sz="1200" spc="325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returns</a:t>
            </a:r>
            <a:r>
              <a:rPr dirty="0" sz="1200" spc="28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pl</a:t>
            </a:r>
            <a:r>
              <a:rPr dirty="0" sz="1200">
                <a:solidFill>
                  <a:srgbClr val="1C1C1C"/>
                </a:solidFill>
                <a:latin typeface="Calibri"/>
                <a:cs typeface="Calibri"/>
              </a:rPr>
              <a:t>unge</a:t>
            </a:r>
            <a:r>
              <a:rPr dirty="0" sz="1200" spc="21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62626"/>
                </a:solidFill>
                <a:latin typeface="Calibri"/>
                <a:cs typeface="Calibri"/>
              </a:rPr>
              <a:t>below</a:t>
            </a:r>
            <a:r>
              <a:rPr dirty="0" sz="1200" spc="17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32323"/>
                </a:solidFill>
                <a:latin typeface="Calibri"/>
                <a:cs typeface="Calibri"/>
              </a:rPr>
              <a:t>zero</a:t>
            </a:r>
            <a:r>
              <a:rPr dirty="0" sz="1200" spc="204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32323"/>
                </a:solidFill>
                <a:latin typeface="Calibri"/>
                <a:cs typeface="Calibri"/>
              </a:rPr>
              <a:t>during</a:t>
            </a:r>
            <a:r>
              <a:rPr dirty="0" sz="1200" spc="225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macroeconomic</a:t>
            </a:r>
            <a:r>
              <a:rPr dirty="0" sz="1200" spc="40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A2A2A"/>
                </a:solidFill>
                <a:latin typeface="Calibri"/>
                <a:cs typeface="Calibri"/>
              </a:rPr>
              <a:t>shocks </a:t>
            </a:r>
            <a:r>
              <a:rPr dirty="0" sz="1200">
                <a:solidFill>
                  <a:srgbClr val="262626"/>
                </a:solidFill>
                <a:latin typeface="Calibri"/>
                <a:cs typeface="Calibri"/>
              </a:rPr>
              <a:t>(e.g.,</a:t>
            </a:r>
            <a:r>
              <a:rPr dirty="0" sz="1200" spc="19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A2A2A"/>
                </a:solidFill>
                <a:latin typeface="Calibri"/>
                <a:cs typeface="Calibri"/>
              </a:rPr>
              <a:t>rate</a:t>
            </a:r>
            <a:r>
              <a:rPr dirty="0" sz="1200" spc="17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42424"/>
                </a:solidFill>
                <a:latin typeface="Calibri"/>
                <a:cs typeface="Calibri"/>
              </a:rPr>
              <a:t>hikes)</a:t>
            </a:r>
            <a:r>
              <a:rPr dirty="0" sz="1200" spc="11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82828"/>
                </a:solidFill>
                <a:latin typeface="Calibri"/>
                <a:cs typeface="Calibri"/>
              </a:rPr>
              <a:t>before</a:t>
            </a:r>
            <a:r>
              <a:rPr dirty="0" sz="1200" spc="19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62626"/>
                </a:solidFill>
                <a:latin typeface="Calibri"/>
                <a:cs typeface="Calibri"/>
              </a:rPr>
              <a:t>aggressively</a:t>
            </a:r>
            <a:r>
              <a:rPr dirty="0" sz="1200" spc="27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62626"/>
                </a:solidFill>
                <a:latin typeface="Calibri"/>
                <a:cs typeface="Calibri"/>
              </a:rPr>
              <a:t>recovering.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7117" y="2629022"/>
            <a:ext cx="202565" cy="198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190">
                <a:solidFill>
                  <a:srgbClr val="606060"/>
                </a:solidFill>
                <a:latin typeface="Courier New"/>
                <a:cs typeface="Courier New"/>
              </a:rPr>
              <a:t>2.0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4763" y="3312771"/>
            <a:ext cx="191770" cy="198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25">
                <a:solidFill>
                  <a:srgbClr val="696969"/>
                </a:solidFill>
                <a:latin typeface="Calibri"/>
                <a:cs typeface="Calibri"/>
              </a:rPr>
              <a:t>1.0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3732" y="4002796"/>
            <a:ext cx="204470" cy="1911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50" spc="-145">
                <a:solidFill>
                  <a:srgbClr val="646464"/>
                </a:solidFill>
                <a:latin typeface="Courier New"/>
                <a:cs typeface="Courier New"/>
              </a:rPr>
              <a:t>0.0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5696" y="4692822"/>
            <a:ext cx="233045" cy="1841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-65">
                <a:solidFill>
                  <a:srgbClr val="6D6D6D"/>
                </a:solidFill>
                <a:latin typeface="Arial MT"/>
                <a:cs typeface="Arial MT"/>
              </a:rPr>
              <a:t>-</a:t>
            </a:r>
            <a:r>
              <a:rPr dirty="0" sz="1000" spc="-25">
                <a:solidFill>
                  <a:srgbClr val="6D6D6D"/>
                </a:solidFill>
                <a:latin typeface="Arial MT"/>
                <a:cs typeface="Arial MT"/>
              </a:rPr>
              <a:t>1</a:t>
            </a:r>
            <a:r>
              <a:rPr dirty="0" sz="1000" spc="-25">
                <a:solidFill>
                  <a:srgbClr val="707070"/>
                </a:solidFill>
                <a:latin typeface="Arial MT"/>
                <a:cs typeface="Arial MT"/>
              </a:rPr>
              <a:t>.0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4449" y="4801322"/>
            <a:ext cx="397510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-135">
                <a:solidFill>
                  <a:srgbClr val="6B6B6B"/>
                </a:solidFill>
                <a:latin typeface="Courier New"/>
                <a:cs typeface="Courier New"/>
              </a:rPr>
              <a:t>Q1'23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53201" y="4820152"/>
            <a:ext cx="1286510" cy="1911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50" spc="-114">
                <a:solidFill>
                  <a:srgbClr val="606060"/>
                </a:solidFill>
                <a:latin typeface="Consolas"/>
                <a:cs typeface="Consolas"/>
              </a:rPr>
              <a:t>Q3</a:t>
            </a:r>
            <a:r>
              <a:rPr dirty="0" sz="1050" spc="-50">
                <a:solidFill>
                  <a:srgbClr val="606060"/>
                </a:solidFill>
                <a:latin typeface="Consolas"/>
                <a:cs typeface="Consolas"/>
              </a:rPr>
              <a:t> </a:t>
            </a:r>
            <a:r>
              <a:rPr dirty="0" sz="1050" spc="-40">
                <a:solidFill>
                  <a:srgbClr val="676767"/>
                </a:solidFill>
                <a:latin typeface="Consolas"/>
                <a:cs typeface="Consolas"/>
              </a:rPr>
              <a:t>'23(Macro</a:t>
            </a:r>
            <a:r>
              <a:rPr dirty="0" sz="1050" spc="-140">
                <a:solidFill>
                  <a:srgbClr val="676767"/>
                </a:solidFill>
                <a:latin typeface="Consolas"/>
                <a:cs typeface="Consolas"/>
              </a:rPr>
              <a:t> </a:t>
            </a:r>
            <a:r>
              <a:rPr dirty="0" sz="1050" spc="-35">
                <a:solidFill>
                  <a:srgbClr val="696969"/>
                </a:solidFill>
                <a:latin typeface="Consolas"/>
                <a:cs typeface="Consolas"/>
              </a:rPr>
              <a:t>Shock)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83704" y="4801322"/>
            <a:ext cx="417195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-20">
                <a:solidFill>
                  <a:srgbClr val="6B6B6B"/>
                </a:solidFill>
                <a:latin typeface="Courier New"/>
                <a:cs typeface="Courier New"/>
              </a:rPr>
              <a:t>Q124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45093" y="4813875"/>
            <a:ext cx="394335" cy="198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10">
                <a:solidFill>
                  <a:srgbClr val="606060"/>
                </a:solidFill>
                <a:latin typeface="Consolas"/>
                <a:cs typeface="Consolas"/>
              </a:rPr>
              <a:t>Q4'24</a:t>
            </a:r>
            <a:endParaRPr sz="11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771" y="809495"/>
            <a:ext cx="9162573" cy="3929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5746" y="2106261"/>
            <a:ext cx="1064775" cy="125746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065">
              <a:lnSpc>
                <a:spcPct val="100000"/>
              </a:lnSpc>
              <a:spcBef>
                <a:spcPts val="120"/>
              </a:spcBef>
            </a:pPr>
            <a:r>
              <a:rPr dirty="0" spc="95">
                <a:solidFill>
                  <a:srgbClr val="161616"/>
                </a:solidFill>
              </a:rPr>
              <a:t>Extreme</a:t>
            </a:r>
            <a:r>
              <a:rPr dirty="0" spc="175">
                <a:solidFill>
                  <a:srgbClr val="161616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Tail</a:t>
            </a:r>
            <a:r>
              <a:rPr dirty="0" spc="114">
                <a:solidFill>
                  <a:srgbClr val="181818"/>
                </a:solidFill>
              </a:rPr>
              <a:t> </a:t>
            </a:r>
            <a:r>
              <a:rPr dirty="0" spc="90">
                <a:solidFill>
                  <a:srgbClr val="0F0F0F"/>
                </a:solidFill>
              </a:rPr>
              <a:t>Risk:</a:t>
            </a:r>
            <a:r>
              <a:rPr dirty="0" spc="-15">
                <a:solidFill>
                  <a:srgbClr val="0F0F0F"/>
                </a:solidFill>
              </a:rPr>
              <a:t> </a:t>
            </a:r>
            <a:r>
              <a:rPr dirty="0">
                <a:solidFill>
                  <a:srgbClr val="131313"/>
                </a:solidFill>
              </a:rPr>
              <a:t>95%</a:t>
            </a:r>
            <a:r>
              <a:rPr dirty="0" spc="145">
                <a:solidFill>
                  <a:srgbClr val="131313"/>
                </a:solidFill>
              </a:rPr>
              <a:t> </a:t>
            </a:r>
            <a:r>
              <a:rPr dirty="0" spc="55"/>
              <a:t>Historical</a:t>
            </a:r>
            <a:r>
              <a:rPr dirty="0" spc="200"/>
              <a:t> </a:t>
            </a:r>
            <a:r>
              <a:rPr dirty="0" spc="65">
                <a:solidFill>
                  <a:srgbClr val="1A1A1A"/>
                </a:solidFill>
              </a:rPr>
              <a:t>VaR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7407" y="1107179"/>
            <a:ext cx="9001125" cy="4813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4765" marR="5080" indent="-12700">
              <a:lnSpc>
                <a:spcPct val="124600"/>
              </a:lnSpc>
              <a:spcBef>
                <a:spcPts val="90"/>
              </a:spcBef>
            </a:pPr>
            <a:r>
              <a:rPr dirty="0" sz="1200" spc="-95">
                <a:solidFill>
                  <a:srgbClr val="2B2B2B"/>
                </a:solidFill>
                <a:latin typeface="Times New Roman"/>
                <a:cs typeface="Times New Roman"/>
              </a:rPr>
              <a:t>Val</a:t>
            </a:r>
            <a:r>
              <a:rPr dirty="0" sz="1200" spc="-2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82828"/>
                </a:solidFill>
                <a:latin typeface="Times New Roman"/>
                <a:cs typeface="Times New Roman"/>
              </a:rPr>
              <a:t>ue</a:t>
            </a:r>
            <a:r>
              <a:rPr dirty="0" sz="1200" spc="165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32323"/>
                </a:solidFill>
                <a:latin typeface="Times New Roman"/>
                <a:cs typeface="Times New Roman"/>
              </a:rPr>
              <a:t>at</a:t>
            </a:r>
            <a:r>
              <a:rPr dirty="0" sz="1200" spc="229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200" spc="-40">
                <a:solidFill>
                  <a:srgbClr val="282828"/>
                </a:solidFill>
                <a:latin typeface="Times New Roman"/>
                <a:cs typeface="Times New Roman"/>
              </a:rPr>
              <a:t>Risk</a:t>
            </a:r>
            <a:r>
              <a:rPr dirty="0" sz="1200" spc="155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dirty="0" sz="1200" spc="-120">
                <a:solidFill>
                  <a:srgbClr val="232323"/>
                </a:solidFill>
                <a:latin typeface="Times New Roman"/>
                <a:cs typeface="Times New Roman"/>
              </a:rPr>
              <a:t>(Va</a:t>
            </a:r>
            <a:r>
              <a:rPr dirty="0" sz="1200" spc="-1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200" spc="-175">
                <a:solidFill>
                  <a:srgbClr val="2A2A2A"/>
                </a:solidFill>
                <a:latin typeface="Times New Roman"/>
                <a:cs typeface="Times New Roman"/>
              </a:rPr>
              <a:t>R)</a:t>
            </a:r>
            <a:r>
              <a:rPr dirty="0" sz="1200" spc="12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12121"/>
                </a:solidFill>
                <a:latin typeface="Times New Roman"/>
                <a:cs typeface="Times New Roman"/>
              </a:rPr>
              <a:t>estimates</a:t>
            </a:r>
            <a:r>
              <a:rPr dirty="0" sz="1200" spc="22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the</a:t>
            </a:r>
            <a:r>
              <a:rPr dirty="0" sz="1200" spc="24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A1A1A"/>
                </a:solidFill>
                <a:latin typeface="Times New Roman"/>
                <a:cs typeface="Times New Roman"/>
              </a:rPr>
              <a:t>maximum</a:t>
            </a:r>
            <a:r>
              <a:rPr dirty="0" sz="1200" spc="32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12121"/>
                </a:solidFill>
                <a:latin typeface="Times New Roman"/>
                <a:cs typeface="Times New Roman"/>
              </a:rPr>
              <a:t>expected</a:t>
            </a:r>
            <a:r>
              <a:rPr dirty="0" sz="1200" spc="254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A2A2A"/>
                </a:solidFill>
                <a:latin typeface="Times New Roman"/>
                <a:cs typeface="Times New Roman"/>
              </a:rPr>
              <a:t>1-day</a:t>
            </a:r>
            <a:r>
              <a:rPr dirty="0" sz="1200" spc="215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12121"/>
                </a:solidFill>
                <a:latin typeface="Times New Roman"/>
                <a:cs typeface="Times New Roman"/>
              </a:rPr>
              <a:t>loss.</a:t>
            </a:r>
            <a:r>
              <a:rPr dirty="0" sz="1200" spc="11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A2A2A"/>
                </a:solidFill>
                <a:latin typeface="Times New Roman"/>
                <a:cs typeface="Times New Roman"/>
              </a:rPr>
              <a:t>Analysis</a:t>
            </a:r>
            <a:r>
              <a:rPr dirty="0" sz="1200" spc="24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12121"/>
                </a:solidFill>
                <a:latin typeface="Times New Roman"/>
                <a:cs typeface="Times New Roman"/>
              </a:rPr>
              <a:t>shows</a:t>
            </a:r>
            <a:r>
              <a:rPr dirty="0" sz="1200" spc="18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that</a:t>
            </a:r>
            <a:r>
              <a:rPr dirty="0" sz="1200" spc="15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62626"/>
                </a:solidFill>
                <a:latin typeface="Times New Roman"/>
                <a:cs typeface="Times New Roman"/>
              </a:rPr>
              <a:t>the</a:t>
            </a:r>
            <a:r>
              <a:rPr dirty="0" sz="1200" spc="245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A2A2A"/>
                </a:solidFill>
                <a:latin typeface="Times New Roman"/>
                <a:cs typeface="Times New Roman"/>
              </a:rPr>
              <a:t>highest-risk</a:t>
            </a:r>
            <a:r>
              <a:rPr dirty="0" sz="1200" spc="235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32323"/>
                </a:solidFill>
                <a:latin typeface="Times New Roman"/>
                <a:cs typeface="Times New Roman"/>
              </a:rPr>
              <a:t>funds</a:t>
            </a:r>
            <a:r>
              <a:rPr dirty="0" sz="1200" spc="185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32323"/>
                </a:solidFill>
                <a:latin typeface="Times New Roman"/>
                <a:cs typeface="Times New Roman"/>
              </a:rPr>
              <a:t>failed</a:t>
            </a:r>
            <a:r>
              <a:rPr dirty="0" sz="1200" spc="27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82828"/>
                </a:solidFill>
                <a:latin typeface="Times New Roman"/>
                <a:cs typeface="Times New Roman"/>
              </a:rPr>
              <a:t>to</a:t>
            </a:r>
            <a:r>
              <a:rPr dirty="0" sz="1200" spc="145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32323"/>
                </a:solidFill>
                <a:latin typeface="Times New Roman"/>
                <a:cs typeface="Times New Roman"/>
              </a:rPr>
              <a:t>deliver</a:t>
            </a:r>
            <a:r>
              <a:rPr dirty="0" sz="1200" spc="29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Times New Roman"/>
                <a:cs typeface="Times New Roman"/>
              </a:rPr>
              <a:t>proportional </a:t>
            </a:r>
            <a:r>
              <a:rPr dirty="0" sz="1200">
                <a:solidFill>
                  <a:srgbClr val="242424"/>
                </a:solidFill>
                <a:latin typeface="Times New Roman"/>
                <a:cs typeface="Times New Roman"/>
              </a:rPr>
              <a:t>returns,</a:t>
            </a:r>
            <a:r>
              <a:rPr dirty="0" sz="1200" spc="24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82828"/>
                </a:solidFill>
                <a:latin typeface="Times New Roman"/>
                <a:cs typeface="Times New Roman"/>
              </a:rPr>
              <a:t>suffering</a:t>
            </a:r>
            <a:r>
              <a:rPr dirty="0" sz="1200" spc="19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F2F2F"/>
                </a:solidFill>
                <a:latin typeface="Times New Roman"/>
                <a:cs typeface="Times New Roman"/>
              </a:rPr>
              <a:t>from</a:t>
            </a:r>
            <a:r>
              <a:rPr dirty="0" sz="1200" spc="27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A2A2A"/>
                </a:solidFill>
                <a:latin typeface="Times New Roman"/>
                <a:cs typeface="Times New Roman"/>
              </a:rPr>
              <a:t>severe</a:t>
            </a:r>
            <a:r>
              <a:rPr dirty="0" sz="1200" spc="204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B2B2B"/>
                </a:solidFill>
                <a:latin typeface="Times New Roman"/>
                <a:cs typeface="Times New Roman"/>
              </a:rPr>
              <a:t>volatility</a:t>
            </a:r>
            <a:r>
              <a:rPr dirty="0" sz="1200" spc="22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32323"/>
                </a:solidFill>
                <a:latin typeface="Times New Roman"/>
                <a:cs typeface="Times New Roman"/>
              </a:rPr>
              <a:t>drag.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6755" y="2045860"/>
            <a:ext cx="8425180" cy="23247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50" spc="-10">
                <a:latin typeface="Consolas"/>
                <a:cs typeface="Consolas"/>
              </a:rPr>
              <a:t>Fundll86]2</a:t>
            </a:r>
            <a:endParaRPr sz="1050">
              <a:latin typeface="Consolas"/>
              <a:cs typeface="Consolas"/>
            </a:endParaRPr>
          </a:p>
          <a:p>
            <a:pPr algn="just" marL="12700" marR="7607934">
              <a:lnSpc>
                <a:spcPct val="319200"/>
              </a:lnSpc>
            </a:pPr>
            <a:r>
              <a:rPr dirty="0" sz="1050" spc="-10">
                <a:latin typeface="Consolas"/>
                <a:cs typeface="Consolas"/>
              </a:rPr>
              <a:t>Fundll9O92 Fundl2OSO3 Fundl2O84l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050">
              <a:latin typeface="Consolas"/>
              <a:cs typeface="Consolas"/>
            </a:endParaRPr>
          </a:p>
          <a:p>
            <a:pPr marL="748030">
              <a:lnSpc>
                <a:spcPct val="100000"/>
              </a:lnSpc>
            </a:pPr>
            <a:r>
              <a:rPr dirty="0" sz="1200" i="1">
                <a:solidFill>
                  <a:srgbClr val="5E5E5E"/>
                </a:solidFill>
                <a:latin typeface="Times New Roman"/>
                <a:cs typeface="Times New Roman"/>
              </a:rPr>
              <a:t>•A</a:t>
            </a:r>
            <a:r>
              <a:rPr dirty="0" sz="1200" spc="35" i="1">
                <a:solidFill>
                  <a:srgbClr val="5E5E5E"/>
                </a:solidFill>
                <a:latin typeface="Times New Roman"/>
                <a:cs typeface="Times New Roman"/>
              </a:rPr>
              <a:t> </a:t>
            </a:r>
            <a:r>
              <a:rPr dirty="0" sz="1200" spc="-20" i="1">
                <a:solidFill>
                  <a:srgbClr val="5D5D5D"/>
                </a:solidFill>
                <a:latin typeface="Times New Roman"/>
                <a:cs typeface="Times New Roman"/>
              </a:rPr>
              <a:t>95%</a:t>
            </a:r>
            <a:r>
              <a:rPr dirty="0" sz="1200" spc="140" i="1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dirty="0" sz="1200" spc="-35" i="1">
                <a:solidFill>
                  <a:srgbClr val="545454"/>
                </a:solidFill>
                <a:latin typeface="Times New Roman"/>
                <a:cs typeface="Times New Roman"/>
              </a:rPr>
              <a:t>Ve</a:t>
            </a:r>
            <a:r>
              <a:rPr dirty="0" sz="1200" spc="-125" i="1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200" spc="-145" i="1">
                <a:solidFill>
                  <a:srgbClr val="606060"/>
                </a:solidFill>
                <a:latin typeface="Times New Roman"/>
                <a:cs typeface="Times New Roman"/>
              </a:rPr>
              <a:t>P</a:t>
            </a:r>
            <a:r>
              <a:rPr dirty="0" sz="1200" spc="40" i="1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646464"/>
                </a:solidFill>
                <a:latin typeface="Times New Roman"/>
                <a:cs typeface="Times New Roman"/>
              </a:rPr>
              <a:t>o</a:t>
            </a:r>
            <a:r>
              <a:rPr dirty="0" sz="1200" spc="-130" i="1">
                <a:solidFill>
                  <a:srgbClr val="646464"/>
                </a:solidFill>
                <a:latin typeface="Times New Roman"/>
                <a:cs typeface="Times New Roman"/>
              </a:rPr>
              <a:t> </a:t>
            </a:r>
            <a:r>
              <a:rPr dirty="0" sz="1200" spc="-60" i="1">
                <a:solidFill>
                  <a:srgbClr val="5D5D5D"/>
                </a:solidFill>
                <a:latin typeface="Times New Roman"/>
                <a:cs typeface="Times New Roman"/>
              </a:rPr>
              <a:t>I</a:t>
            </a:r>
            <a:r>
              <a:rPr dirty="0" sz="1200" spc="-50" i="1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dirty="0" sz="1200" spc="-35" i="1">
                <a:solidFill>
                  <a:srgbClr val="575757"/>
                </a:solidFill>
                <a:latin typeface="Times New Roman"/>
                <a:cs typeface="Times New Roman"/>
              </a:rPr>
              <a:t>-</a:t>
            </a:r>
            <a:r>
              <a:rPr dirty="0" sz="1200" spc="-40" i="1">
                <a:solidFill>
                  <a:srgbClr val="575757"/>
                </a:solidFill>
                <a:latin typeface="Times New Roman"/>
                <a:cs typeface="Times New Roman"/>
              </a:rPr>
              <a:t>2.</a:t>
            </a:r>
            <a:r>
              <a:rPr dirty="0" sz="1200" spc="-95" i="1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dirty="0" sz="1200" spc="-55" i="1">
                <a:solidFill>
                  <a:srgbClr val="5D5D5D"/>
                </a:solidFill>
                <a:latin typeface="Times New Roman"/>
                <a:cs typeface="Times New Roman"/>
              </a:rPr>
              <a:t>15%</a:t>
            </a:r>
            <a:r>
              <a:rPr dirty="0" sz="1200" spc="140" i="1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595959"/>
                </a:solidFill>
                <a:latin typeface="Times New Roman"/>
                <a:cs typeface="Times New Roman"/>
              </a:rPr>
              <a:t>implies</a:t>
            </a:r>
            <a:r>
              <a:rPr dirty="0" sz="1200" spc="75" i="1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5D5D5D"/>
                </a:solidFill>
                <a:latin typeface="Times New Roman"/>
                <a:cs typeface="Times New Roman"/>
              </a:rPr>
              <a:t>o</a:t>
            </a:r>
            <a:r>
              <a:rPr dirty="0" sz="1200" spc="50" i="1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5D5D5D"/>
                </a:solidFill>
                <a:latin typeface="Times New Roman"/>
                <a:cs typeface="Times New Roman"/>
              </a:rPr>
              <a:t>5%</a:t>
            </a:r>
            <a:r>
              <a:rPr dirty="0" sz="1200" spc="150" i="1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595959"/>
                </a:solidFill>
                <a:latin typeface="Times New Roman"/>
                <a:cs typeface="Times New Roman"/>
              </a:rPr>
              <a:t>historical</a:t>
            </a:r>
            <a:r>
              <a:rPr dirty="0" sz="1200" spc="254" i="1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575757"/>
                </a:solidFill>
                <a:latin typeface="Times New Roman"/>
                <a:cs typeface="Times New Roman"/>
              </a:rPr>
              <a:t>probobiliy</a:t>
            </a:r>
            <a:r>
              <a:rPr dirty="0" sz="1200" spc="85" i="1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5B5B5B"/>
                </a:solidFill>
                <a:latin typeface="Times New Roman"/>
                <a:cs typeface="Times New Roman"/>
              </a:rPr>
              <a:t>of</a:t>
            </a:r>
            <a:r>
              <a:rPr dirty="0" sz="1200" spc="90" i="1">
                <a:solidFill>
                  <a:srgbClr val="5B5B5B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4F4F4F"/>
                </a:solidFill>
                <a:latin typeface="Times New Roman"/>
                <a:cs typeface="Times New Roman"/>
              </a:rPr>
              <a:t>losing</a:t>
            </a:r>
            <a:r>
              <a:rPr dirty="0" sz="1200" spc="105" i="1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dirty="0" sz="1200" spc="55" i="1">
                <a:solidFill>
                  <a:srgbClr val="5B5B5B"/>
                </a:solidFill>
                <a:latin typeface="Times New Roman"/>
                <a:cs typeface="Times New Roman"/>
              </a:rPr>
              <a:t>more</a:t>
            </a:r>
            <a:r>
              <a:rPr dirty="0" sz="1200" spc="185" i="1">
                <a:solidFill>
                  <a:srgbClr val="5B5B5B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5D5D5D"/>
                </a:solidFill>
                <a:latin typeface="Times New Roman"/>
                <a:cs typeface="Times New Roman"/>
              </a:rPr>
              <a:t>rban</a:t>
            </a:r>
            <a:r>
              <a:rPr dirty="0" sz="1200" spc="11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565656"/>
                </a:solidFill>
                <a:latin typeface="Times New Roman"/>
                <a:cs typeface="Times New Roman"/>
              </a:rPr>
              <a:t>2.</a:t>
            </a:r>
            <a:r>
              <a:rPr dirty="0" sz="1200" spc="-120" i="1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dirty="0" sz="1200" spc="-55" i="1">
                <a:solidFill>
                  <a:srgbClr val="5B5B5B"/>
                </a:solidFill>
                <a:latin typeface="Times New Roman"/>
                <a:cs typeface="Times New Roman"/>
              </a:rPr>
              <a:t>15%</a:t>
            </a:r>
            <a:r>
              <a:rPr dirty="0" sz="1200" spc="160" i="1">
                <a:solidFill>
                  <a:srgbClr val="5B5B5B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646464"/>
                </a:solidFill>
                <a:latin typeface="Times New Roman"/>
                <a:cs typeface="Times New Roman"/>
              </a:rPr>
              <a:t>o</a:t>
            </a:r>
            <a:r>
              <a:rPr dirty="0" sz="1200" spc="-135" i="1">
                <a:solidFill>
                  <a:srgbClr val="646464"/>
                </a:solidFill>
                <a:latin typeface="Times New Roman"/>
                <a:cs typeface="Times New Roman"/>
              </a:rPr>
              <a:t> </a:t>
            </a:r>
            <a:r>
              <a:rPr dirty="0" sz="1200" spc="-60" i="1">
                <a:solidFill>
                  <a:srgbClr val="5D5D5D"/>
                </a:solidFill>
                <a:latin typeface="Times New Roman"/>
                <a:cs typeface="Times New Roman"/>
              </a:rPr>
              <a:t>I</a:t>
            </a:r>
            <a:r>
              <a:rPr dirty="0" sz="1200" spc="-50" i="1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5B5B5B"/>
                </a:solidFill>
                <a:latin typeface="Times New Roman"/>
                <a:cs typeface="Times New Roman"/>
              </a:rPr>
              <a:t>capital</a:t>
            </a:r>
            <a:r>
              <a:rPr dirty="0" sz="1200" spc="125" i="1">
                <a:solidFill>
                  <a:srgbClr val="5B5B5B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5D5D5D"/>
                </a:solidFill>
                <a:latin typeface="Times New Roman"/>
                <a:cs typeface="Times New Roman"/>
              </a:rPr>
              <a:t>in</a:t>
            </a:r>
            <a:r>
              <a:rPr dirty="0" sz="1200" spc="55" i="1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5D5D5D"/>
                </a:solidFill>
                <a:latin typeface="Times New Roman"/>
                <a:cs typeface="Times New Roman"/>
              </a:rPr>
              <a:t>o</a:t>
            </a:r>
            <a:r>
              <a:rPr dirty="0" sz="1200" spc="105" i="1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5B5B5B"/>
                </a:solidFill>
                <a:latin typeface="Times New Roman"/>
                <a:cs typeface="Times New Roman"/>
              </a:rPr>
              <a:t>single</a:t>
            </a:r>
            <a:r>
              <a:rPr dirty="0" sz="1200" spc="155" i="1">
                <a:solidFill>
                  <a:srgbClr val="5B5B5B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5E5E5E"/>
                </a:solidFill>
                <a:latin typeface="Times New Roman"/>
                <a:cs typeface="Times New Roman"/>
              </a:rPr>
              <a:t>trading</a:t>
            </a:r>
            <a:r>
              <a:rPr dirty="0" sz="1200" spc="145" i="1">
                <a:solidFill>
                  <a:srgbClr val="5E5E5E"/>
                </a:solidFill>
                <a:latin typeface="Times New Roman"/>
                <a:cs typeface="Times New Roman"/>
              </a:rPr>
              <a:t> </a:t>
            </a:r>
            <a:r>
              <a:rPr dirty="0" sz="1200" spc="-20" i="1">
                <a:solidFill>
                  <a:srgbClr val="545454"/>
                </a:solidFill>
                <a:latin typeface="Times New Roman"/>
                <a:cs typeface="Times New Roman"/>
              </a:rPr>
              <a:t>day.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67" y="2137698"/>
            <a:ext cx="2750343" cy="275071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771" y="809495"/>
            <a:ext cx="9162573" cy="3929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8255">
              <a:lnSpc>
                <a:spcPct val="100000"/>
              </a:lnSpc>
              <a:spcBef>
                <a:spcPts val="120"/>
              </a:spcBef>
            </a:pPr>
            <a:r>
              <a:rPr dirty="0" spc="50">
                <a:solidFill>
                  <a:srgbClr val="181818"/>
                </a:solidFill>
              </a:rPr>
              <a:t>Covert</a:t>
            </a:r>
            <a:r>
              <a:rPr dirty="0" spc="60">
                <a:solidFill>
                  <a:srgbClr val="181818"/>
                </a:solidFill>
              </a:rPr>
              <a:t> </a:t>
            </a:r>
            <a:r>
              <a:rPr dirty="0" spc="65"/>
              <a:t>Concentration</a:t>
            </a:r>
            <a:r>
              <a:rPr dirty="0" spc="260"/>
              <a:t> </a:t>
            </a:r>
            <a:r>
              <a:rPr dirty="0" spc="150"/>
              <a:t>Risk</a:t>
            </a:r>
            <a:r>
              <a:rPr dirty="0" spc="50"/>
              <a:t> </a:t>
            </a:r>
            <a:r>
              <a:rPr dirty="0" spc="-10">
                <a:solidFill>
                  <a:srgbClr val="161616"/>
                </a:solidFill>
              </a:rPr>
              <a:t>(HHI)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5985" y="1108435"/>
            <a:ext cx="8527415" cy="4813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4604" marR="5080" indent="-2540">
              <a:lnSpc>
                <a:spcPct val="119600"/>
              </a:lnSpc>
              <a:spcBef>
                <a:spcPts val="90"/>
              </a:spcBef>
            </a:pPr>
            <a:r>
              <a:rPr dirty="0" sz="1250">
                <a:solidFill>
                  <a:srgbClr val="2A2A2A"/>
                </a:solidFill>
                <a:latin typeface="Calibri"/>
                <a:cs typeface="Calibri"/>
              </a:rPr>
              <a:t>Applying</a:t>
            </a:r>
            <a:r>
              <a:rPr dirty="0" sz="1250" spc="7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F1F1F"/>
                </a:solidFill>
                <a:latin typeface="Calibri"/>
                <a:cs typeface="Calibri"/>
              </a:rPr>
              <a:t>the</a:t>
            </a:r>
            <a:r>
              <a:rPr dirty="0" sz="125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323"/>
                </a:solidFill>
                <a:latin typeface="Calibri"/>
                <a:cs typeface="Calibri"/>
              </a:rPr>
              <a:t>Herfindahl-Hirschman</a:t>
            </a:r>
            <a:r>
              <a:rPr dirty="0" sz="1250" spc="-1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82828"/>
                </a:solidFill>
                <a:latin typeface="Calibri"/>
                <a:cs typeface="Calibri"/>
              </a:rPr>
              <a:t>Index</a:t>
            </a:r>
            <a:r>
              <a:rPr dirty="0" sz="1250" spc="-2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82828"/>
                </a:solidFill>
                <a:latin typeface="Calibri"/>
                <a:cs typeface="Calibri"/>
              </a:rPr>
              <a:t>(HHI)</a:t>
            </a:r>
            <a:r>
              <a:rPr dirty="0" sz="1250" spc="-4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61616"/>
                </a:solidFill>
                <a:latin typeface="Calibri"/>
                <a:cs typeface="Calibri"/>
              </a:rPr>
              <a:t>to</a:t>
            </a:r>
            <a:r>
              <a:rPr dirty="0" sz="1250" spc="5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323"/>
                </a:solidFill>
                <a:latin typeface="Calibri"/>
                <a:cs typeface="Calibri"/>
              </a:rPr>
              <a:t>sector</a:t>
            </a:r>
            <a:r>
              <a:rPr dirty="0" sz="1250" spc="1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323"/>
                </a:solidFill>
                <a:latin typeface="Calibri"/>
                <a:cs typeface="Calibri"/>
              </a:rPr>
              <a:t>weights</a:t>
            </a:r>
            <a:r>
              <a:rPr dirty="0" sz="1250" spc="75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121"/>
                </a:solidFill>
                <a:latin typeface="Calibri"/>
                <a:cs typeface="Calibri"/>
              </a:rPr>
              <a:t>revealed</a:t>
            </a:r>
            <a:r>
              <a:rPr dirty="0" sz="1250" spc="5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323"/>
                </a:solidFill>
                <a:latin typeface="Calibri"/>
                <a:cs typeface="Calibri"/>
              </a:rPr>
              <a:t>that</a:t>
            </a:r>
            <a:r>
              <a:rPr dirty="0" sz="1250" spc="2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323"/>
                </a:solidFill>
                <a:latin typeface="Calibri"/>
                <a:cs typeface="Calibri"/>
              </a:rPr>
              <a:t>several</a:t>
            </a:r>
            <a:r>
              <a:rPr dirty="0" sz="1250" spc="4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323"/>
                </a:solidFill>
                <a:latin typeface="Calibri"/>
                <a:cs typeface="Calibri"/>
              </a:rPr>
              <a:t>"Diversified"</a:t>
            </a:r>
            <a:r>
              <a:rPr dirty="0" sz="1250" spc="7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1C1C"/>
                </a:solidFill>
                <a:latin typeface="Calibri"/>
                <a:cs typeface="Calibri"/>
              </a:rPr>
              <a:t>funds</a:t>
            </a:r>
            <a:r>
              <a:rPr dirty="0" sz="1250" spc="8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B2B2B"/>
                </a:solidFill>
                <a:latin typeface="Calibri"/>
                <a:cs typeface="Calibri"/>
              </a:rPr>
              <a:t>hold</a:t>
            </a:r>
            <a:r>
              <a:rPr dirty="0" sz="1250" spc="2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121"/>
                </a:solidFill>
                <a:latin typeface="Calibri"/>
                <a:cs typeface="Calibri"/>
              </a:rPr>
              <a:t>covert</a:t>
            </a:r>
            <a:r>
              <a:rPr dirty="0" sz="1250" spc="4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12121"/>
                </a:solidFill>
                <a:latin typeface="Calibri"/>
                <a:cs typeface="Calibri"/>
              </a:rPr>
              <a:t>overweight </a:t>
            </a:r>
            <a:r>
              <a:rPr dirty="0" sz="1250">
                <a:solidFill>
                  <a:srgbClr val="1C1C1C"/>
                </a:solidFill>
                <a:latin typeface="Calibri"/>
                <a:cs typeface="Calibri"/>
              </a:rPr>
              <a:t>positions,</a:t>
            </a:r>
            <a:r>
              <a:rPr dirty="0" sz="1250" spc="12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D2D2D"/>
                </a:solidFill>
                <a:latin typeface="Calibri"/>
                <a:cs typeface="Calibri"/>
              </a:rPr>
              <a:t>scoring</a:t>
            </a:r>
            <a:r>
              <a:rPr dirty="0" sz="1250" spc="12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F1F1F"/>
                </a:solidFill>
                <a:latin typeface="Calibri"/>
                <a:cs typeface="Calibri"/>
              </a:rPr>
              <a:t>near </a:t>
            </a:r>
            <a:r>
              <a:rPr dirty="0" sz="1250" spc="-10">
                <a:solidFill>
                  <a:srgbClr val="212121"/>
                </a:solidFill>
                <a:latin typeface="Calibri"/>
                <a:cs typeface="Calibri"/>
              </a:rPr>
              <a:t>2,500</a:t>
            </a:r>
            <a:r>
              <a:rPr dirty="0" sz="1250" spc="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A2A2A"/>
                </a:solidFill>
                <a:latin typeface="Calibri"/>
                <a:cs typeface="Calibri"/>
              </a:rPr>
              <a:t>(highly</a:t>
            </a:r>
            <a:r>
              <a:rPr dirty="0" sz="1250" spc="9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32323"/>
                </a:solidFill>
                <a:latin typeface="Calibri"/>
                <a:cs typeface="Calibri"/>
              </a:rPr>
              <a:t>concentrated).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25936" y="2819280"/>
            <a:ext cx="2296160" cy="1348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>
                <a:solidFill>
                  <a:srgbClr val="1D1D1D"/>
                </a:solidFill>
                <a:latin typeface="Calibri"/>
                <a:cs typeface="Calibri"/>
              </a:rPr>
              <a:t>Financial</a:t>
            </a:r>
            <a:r>
              <a:rPr dirty="0" sz="1400" spc="4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82828"/>
                </a:solidFill>
                <a:latin typeface="Calibri"/>
                <a:cs typeface="Calibri"/>
              </a:rPr>
              <a:t>Services</a:t>
            </a:r>
            <a:r>
              <a:rPr dirty="0" sz="1400" spc="28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2A2A2A"/>
                </a:solidFill>
                <a:latin typeface="Calibri"/>
                <a:cs typeface="Calibri"/>
              </a:rPr>
              <a:t>(45^A)</a:t>
            </a:r>
            <a:endParaRPr sz="1400">
              <a:latin typeface="Calibri"/>
              <a:cs typeface="Calibri"/>
            </a:endParaRPr>
          </a:p>
          <a:p>
            <a:pPr marL="13970">
              <a:lnSpc>
                <a:spcPct val="100000"/>
              </a:lnSpc>
              <a:spcBef>
                <a:spcPts val="1380"/>
              </a:spcBef>
            </a:pPr>
            <a:r>
              <a:rPr dirty="0" sz="1250" spc="85">
                <a:solidFill>
                  <a:srgbClr val="1F1F1F"/>
                </a:solidFill>
                <a:latin typeface="Calibri"/>
                <a:cs typeface="Calibri"/>
              </a:rPr>
              <a:t>Information</a:t>
            </a:r>
            <a:r>
              <a:rPr dirty="0" sz="1250" spc="1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50" spc="80">
                <a:solidFill>
                  <a:srgbClr val="262626"/>
                </a:solidFill>
                <a:latin typeface="Calibri"/>
                <a:cs typeface="Calibri"/>
              </a:rPr>
              <a:t>Technology</a:t>
            </a:r>
            <a:r>
              <a:rPr dirty="0" sz="1250" spc="12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A2A2A"/>
                </a:solidFill>
                <a:latin typeface="Calibri"/>
                <a:cs typeface="Calibri"/>
              </a:rPr>
              <a:t>(3096)</a:t>
            </a:r>
            <a:endParaRPr sz="1250">
              <a:latin typeface="Calibri"/>
              <a:cs typeface="Calibri"/>
            </a:endParaRPr>
          </a:p>
          <a:p>
            <a:pPr marL="13335">
              <a:lnSpc>
                <a:spcPct val="100000"/>
              </a:lnSpc>
              <a:spcBef>
                <a:spcPts val="1360"/>
              </a:spcBef>
            </a:pPr>
            <a:r>
              <a:rPr dirty="0" sz="1300" spc="70">
                <a:solidFill>
                  <a:srgbClr val="2A2A2A"/>
                </a:solidFill>
                <a:latin typeface="Calibri"/>
                <a:cs typeface="Calibri"/>
              </a:rPr>
              <a:t>Energy</a:t>
            </a:r>
            <a:r>
              <a:rPr dirty="0" sz="1300" spc="6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300" spc="95">
                <a:solidFill>
                  <a:srgbClr val="1F1F1F"/>
                </a:solidFill>
                <a:latin typeface="Calibri"/>
                <a:cs typeface="Calibri"/>
              </a:rPr>
              <a:t>&amp;</a:t>
            </a:r>
            <a:r>
              <a:rPr dirty="0" sz="13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300" spc="65">
                <a:solidFill>
                  <a:srgbClr val="282828"/>
                </a:solidFill>
                <a:latin typeface="Calibri"/>
                <a:cs typeface="Calibri"/>
              </a:rPr>
              <a:t>Auto</a:t>
            </a:r>
            <a:r>
              <a:rPr dirty="0" sz="1300" spc="-1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242424"/>
                </a:solidFill>
                <a:latin typeface="Calibri"/>
                <a:cs typeface="Calibri"/>
              </a:rPr>
              <a:t>(2096)</a:t>
            </a:r>
            <a:endParaRPr sz="1300">
              <a:latin typeface="Calibri"/>
              <a:cs typeface="Calibri"/>
            </a:endParaRPr>
          </a:p>
          <a:p>
            <a:pPr marL="13335">
              <a:lnSpc>
                <a:spcPct val="100000"/>
              </a:lnSpc>
              <a:spcBef>
                <a:spcPts val="1395"/>
              </a:spcBef>
            </a:pPr>
            <a:r>
              <a:rPr dirty="0" sz="1250">
                <a:solidFill>
                  <a:srgbClr val="2A2A2A"/>
                </a:solidFill>
                <a:latin typeface="Calibri"/>
                <a:cs typeface="Calibri"/>
              </a:rPr>
              <a:t>All</a:t>
            </a:r>
            <a:r>
              <a:rPr dirty="0" sz="1250" spc="3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250" spc="105">
                <a:solidFill>
                  <a:srgbClr val="242424"/>
                </a:solidFill>
                <a:latin typeface="Calibri"/>
                <a:cs typeface="Calibri"/>
              </a:rPr>
              <a:t>Other</a:t>
            </a:r>
            <a:r>
              <a:rPr dirty="0" sz="1250" spc="8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250" spc="85">
                <a:solidFill>
                  <a:srgbClr val="262626"/>
                </a:solidFill>
                <a:latin typeface="Calibri"/>
                <a:cs typeface="Calibri"/>
              </a:rPr>
              <a:t>Sectors</a:t>
            </a:r>
            <a:r>
              <a:rPr dirty="0" sz="1250" spc="3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282828"/>
                </a:solidFill>
                <a:latin typeface="Calibri"/>
                <a:cs typeface="Calibri"/>
              </a:rPr>
              <a:t>(5°â)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7620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151515"/>
                </a:solidFill>
              </a:rPr>
              <a:t>Investor</a:t>
            </a:r>
            <a:r>
              <a:rPr dirty="0" spc="305">
                <a:solidFill>
                  <a:srgbClr val="151515"/>
                </a:solidFill>
              </a:rPr>
              <a:t> </a:t>
            </a:r>
            <a:r>
              <a:rPr dirty="0" spc="60"/>
              <a:t>Behavior:</a:t>
            </a:r>
            <a:r>
              <a:rPr dirty="0" spc="200"/>
              <a:t> </a:t>
            </a:r>
            <a:r>
              <a:rPr dirty="0" spc="60">
                <a:solidFill>
                  <a:srgbClr val="181818"/>
                </a:solidFill>
              </a:rPr>
              <a:t>SIP</a:t>
            </a:r>
            <a:r>
              <a:rPr dirty="0" spc="425">
                <a:solidFill>
                  <a:srgbClr val="181818"/>
                </a:solidFill>
              </a:rPr>
              <a:t> </a:t>
            </a:r>
            <a:r>
              <a:rPr dirty="0" spc="60"/>
              <a:t>Continuity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1269" y="1606073"/>
            <a:ext cx="4237990" cy="2978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9685" marR="5080" indent="1270">
              <a:lnSpc>
                <a:spcPct val="122200"/>
              </a:lnSpc>
              <a:spcBef>
                <a:spcPts val="90"/>
              </a:spcBef>
            </a:pP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SlPs</a:t>
            </a:r>
            <a:r>
              <a:rPr dirty="0" sz="1350" spc="10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55">
                <a:solidFill>
                  <a:srgbClr val="282828"/>
                </a:solidFill>
                <a:latin typeface="Calibri"/>
                <a:cs typeface="Calibri"/>
              </a:rPr>
              <a:t>form</a:t>
            </a:r>
            <a:r>
              <a:rPr dirty="0" sz="1350" spc="10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1350" spc="50">
                <a:solidFill>
                  <a:srgbClr val="212121"/>
                </a:solidFill>
                <a:latin typeface="Calibri"/>
                <a:cs typeface="Calibri"/>
              </a:rPr>
              <a:t>the</a:t>
            </a:r>
            <a:r>
              <a:rPr dirty="0" sz="1350" spc="10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F1F1F"/>
                </a:solidFill>
                <a:latin typeface="Calibri"/>
                <a:cs typeface="Calibri"/>
              </a:rPr>
              <a:t>backbone</a:t>
            </a:r>
            <a:r>
              <a:rPr dirty="0" sz="1350" spc="1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82828"/>
                </a:solidFill>
                <a:latin typeface="Calibri"/>
                <a:cs typeface="Calibri"/>
              </a:rPr>
              <a:t>of</a:t>
            </a:r>
            <a:r>
              <a:rPr dirty="0" sz="1350" spc="2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A2A2A"/>
                </a:solidFill>
                <a:latin typeface="Calibri"/>
                <a:cs typeface="Calibri"/>
              </a:rPr>
              <a:t>AMC</a:t>
            </a:r>
            <a:r>
              <a:rPr dirty="0" sz="1350" spc="17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350" spc="55">
                <a:solidFill>
                  <a:srgbClr val="1F1F1F"/>
                </a:solidFill>
                <a:latin typeface="Calibri"/>
                <a:cs typeface="Calibri"/>
              </a:rPr>
              <a:t>revenue,</a:t>
            </a:r>
            <a:r>
              <a:rPr dirty="0" sz="1350" spc="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62626"/>
                </a:solidFill>
                <a:latin typeface="Calibri"/>
                <a:cs typeface="Calibri"/>
              </a:rPr>
              <a:t>but</a:t>
            </a:r>
            <a:r>
              <a:rPr dirty="0" sz="1350" spc="12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350" spc="40">
                <a:solidFill>
                  <a:srgbClr val="1F1F1F"/>
                </a:solidFill>
                <a:latin typeface="Calibri"/>
                <a:cs typeface="Calibri"/>
              </a:rPr>
              <a:t>continuity </a:t>
            </a:r>
            <a:r>
              <a:rPr dirty="0" sz="1350" spc="65">
                <a:solidFill>
                  <a:srgbClr val="1D1D1D"/>
                </a:solidFill>
                <a:latin typeface="Calibri"/>
                <a:cs typeface="Calibri"/>
              </a:rPr>
              <a:t>analysis</a:t>
            </a:r>
            <a:r>
              <a:rPr dirty="0" sz="1350" spc="15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1350" spc="50">
                <a:solidFill>
                  <a:srgbClr val="151515"/>
                </a:solidFill>
                <a:latin typeface="Calibri"/>
                <a:cs typeface="Calibri"/>
              </a:rPr>
              <a:t>isolated</a:t>
            </a:r>
            <a:r>
              <a:rPr dirty="0" sz="1350" spc="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350" spc="65">
                <a:solidFill>
                  <a:srgbClr val="1D1D1D"/>
                </a:solidFill>
                <a:latin typeface="Calibri"/>
                <a:cs typeface="Calibri"/>
              </a:rPr>
              <a:t>a</a:t>
            </a:r>
            <a:r>
              <a:rPr dirty="0" sz="1350" spc="10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1350" spc="10">
                <a:solidFill>
                  <a:srgbClr val="282828"/>
                </a:solidFill>
                <a:latin typeface="Calibri"/>
                <a:cs typeface="Calibri"/>
              </a:rPr>
              <a:t>critical</a:t>
            </a:r>
            <a:r>
              <a:rPr dirty="0" sz="1350" spc="13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1350" spc="50">
                <a:solidFill>
                  <a:srgbClr val="1F1F1F"/>
                </a:solidFill>
                <a:latin typeface="Calibri"/>
                <a:cs typeface="Calibri"/>
              </a:rPr>
              <a:t>vulnerability.</a:t>
            </a:r>
            <a:endParaRPr sz="1350">
              <a:latin typeface="Calibri"/>
              <a:cs typeface="Calibri"/>
            </a:endParaRPr>
          </a:p>
          <a:p>
            <a:pPr marL="176530" indent="-163830">
              <a:lnSpc>
                <a:spcPct val="100000"/>
              </a:lnSpc>
              <a:spcBef>
                <a:spcPts val="1575"/>
              </a:spcBef>
              <a:buClr>
                <a:srgbClr val="1C1C1C"/>
              </a:buClr>
              <a:buChar char="•"/>
              <a:tabLst>
                <a:tab pos="176530" algn="l"/>
              </a:tabLst>
            </a:pPr>
            <a:r>
              <a:rPr dirty="0" sz="1250">
                <a:solidFill>
                  <a:srgbClr val="262626"/>
                </a:solidFill>
                <a:latin typeface="Calibri"/>
                <a:cs typeface="Calibri"/>
              </a:rPr>
              <a:t>SIP</a:t>
            </a:r>
            <a:r>
              <a:rPr dirty="0" sz="1250" spc="1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1C1C"/>
                </a:solidFill>
                <a:latin typeface="Calibri"/>
                <a:cs typeface="Calibri"/>
              </a:rPr>
              <a:t>Dominance:</a:t>
            </a:r>
            <a:r>
              <a:rPr dirty="0" sz="1250" spc="16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1313"/>
                </a:solidFill>
                <a:latin typeface="Calibri"/>
                <a:cs typeface="Calibri"/>
              </a:rPr>
              <a:t>Systematic</a:t>
            </a:r>
            <a:r>
              <a:rPr dirty="0" sz="1250" spc="16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1313"/>
                </a:solidFill>
                <a:latin typeface="Calibri"/>
                <a:cs typeface="Calibri"/>
              </a:rPr>
              <a:t>Investment</a:t>
            </a:r>
            <a:r>
              <a:rPr dirty="0" sz="1250" spc="11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82828"/>
                </a:solidFill>
                <a:latin typeface="Calibri"/>
                <a:cs typeface="Calibri"/>
              </a:rPr>
              <a:t>Plans</a:t>
            </a:r>
            <a:r>
              <a:rPr dirty="0" sz="1250" spc="6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121"/>
                </a:solidFill>
                <a:latin typeface="Calibri"/>
                <a:cs typeface="Calibri"/>
              </a:rPr>
              <a:t>account</a:t>
            </a:r>
            <a:r>
              <a:rPr dirty="0" sz="1250" spc="7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50" spc="-25">
                <a:solidFill>
                  <a:srgbClr val="232323"/>
                </a:solidFill>
                <a:latin typeface="Calibri"/>
                <a:cs typeface="Calibri"/>
              </a:rPr>
              <a:t>for</a:t>
            </a:r>
            <a:endParaRPr sz="1250">
              <a:latin typeface="Calibri"/>
              <a:cs typeface="Calibri"/>
            </a:endParaRPr>
          </a:p>
          <a:p>
            <a:pPr marL="174625">
              <a:lnSpc>
                <a:spcPct val="100000"/>
              </a:lnSpc>
              <a:spcBef>
                <a:spcPts val="295"/>
              </a:spcBef>
            </a:pPr>
            <a:r>
              <a:rPr dirty="0" sz="1250" spc="-60">
                <a:solidFill>
                  <a:srgbClr val="1F1F1F"/>
                </a:solidFill>
                <a:latin typeface="Calibri"/>
                <a:cs typeface="Calibri"/>
              </a:rPr>
              <a:t>83.59«</a:t>
            </a:r>
            <a:r>
              <a:rPr dirty="0" sz="1250" spc="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F2F2F"/>
                </a:solidFill>
                <a:latin typeface="Calibri"/>
                <a:cs typeface="Calibri"/>
              </a:rPr>
              <a:t>of</a:t>
            </a:r>
            <a:r>
              <a:rPr dirty="0" sz="1250" spc="-5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D2D2D"/>
                </a:solidFill>
                <a:latin typeface="Calibri"/>
                <a:cs typeface="Calibri"/>
              </a:rPr>
              <a:t>all</a:t>
            </a:r>
            <a:r>
              <a:rPr dirty="0" sz="1250" spc="65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D1D1D"/>
                </a:solidFill>
                <a:latin typeface="Calibri"/>
                <a:cs typeface="Calibri"/>
              </a:rPr>
              <a:t>tracked</a:t>
            </a:r>
            <a:r>
              <a:rPr dirty="0" sz="1250" spc="10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323"/>
                </a:solidFill>
                <a:latin typeface="Calibri"/>
                <a:cs typeface="Calibri"/>
              </a:rPr>
              <a:t>transaction</a:t>
            </a:r>
            <a:r>
              <a:rPr dirty="0" sz="1250" spc="65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D1D1D"/>
                </a:solidFill>
                <a:latin typeface="Calibri"/>
                <a:cs typeface="Calibri"/>
              </a:rPr>
              <a:t>volume.</a:t>
            </a:r>
            <a:endParaRPr sz="1250">
              <a:latin typeface="Calibri"/>
              <a:cs typeface="Calibri"/>
            </a:endParaRPr>
          </a:p>
          <a:p>
            <a:pPr marL="175260" marR="21590" indent="-163195">
              <a:lnSpc>
                <a:spcPct val="124600"/>
              </a:lnSpc>
              <a:spcBef>
                <a:spcPts val="1230"/>
              </a:spcBef>
              <a:buClr>
                <a:srgbClr val="1F1F1F"/>
              </a:buClr>
              <a:buChar char="•"/>
              <a:tabLst>
                <a:tab pos="175260" algn="l"/>
              </a:tabLst>
            </a:pPr>
            <a:r>
              <a:rPr dirty="0" sz="1200">
                <a:solidFill>
                  <a:srgbClr val="262626"/>
                </a:solidFill>
                <a:latin typeface="Calibri"/>
                <a:cs typeface="Calibri"/>
              </a:rPr>
              <a:t>The</a:t>
            </a:r>
            <a:r>
              <a:rPr dirty="0" sz="1200" spc="9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42424"/>
                </a:solidFill>
                <a:latin typeface="Calibri"/>
                <a:cs typeface="Calibri"/>
              </a:rPr>
              <a:t>Vulnerability:</a:t>
            </a:r>
            <a:r>
              <a:rPr dirty="0" sz="1200" spc="9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200" spc="-210">
                <a:solidFill>
                  <a:srgbClr val="333333"/>
                </a:solidFill>
                <a:latin typeface="Calibri"/>
                <a:cs typeface="Calibri"/>
              </a:rPr>
              <a:t>1</a:t>
            </a:r>
            <a:r>
              <a:rPr dirty="0" sz="12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42424"/>
                </a:solidFill>
                <a:latin typeface="Calibri"/>
                <a:cs typeface="Calibri"/>
              </a:rPr>
              <a:t>0-</a:t>
            </a:r>
            <a:r>
              <a:rPr dirty="0" sz="1200">
                <a:solidFill>
                  <a:srgbClr val="242424"/>
                </a:solidFill>
                <a:latin typeface="Calibri"/>
                <a:cs typeface="Calibri"/>
              </a:rPr>
              <a:t>15%</a:t>
            </a:r>
            <a:r>
              <a:rPr dirty="0" sz="1200" spc="32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D2D2D"/>
                </a:solidFill>
                <a:latin typeface="Calibri"/>
                <a:cs typeface="Calibri"/>
              </a:rPr>
              <a:t>of</a:t>
            </a:r>
            <a:r>
              <a:rPr dirty="0" sz="1200" spc="145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seasoned</a:t>
            </a:r>
            <a:r>
              <a:rPr dirty="0" sz="1200" spc="3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investors</a:t>
            </a:r>
            <a:r>
              <a:rPr dirty="0" sz="1200" spc="2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82828"/>
                </a:solidFill>
                <a:latin typeface="Calibri"/>
                <a:cs typeface="Calibri"/>
              </a:rPr>
              <a:t>(6+</a:t>
            </a:r>
            <a:r>
              <a:rPr dirty="0" sz="1200" spc="19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Calibri"/>
                <a:cs typeface="Calibri"/>
              </a:rPr>
              <a:t>previous </a:t>
            </a:r>
            <a:r>
              <a:rPr dirty="0" sz="1200">
                <a:solidFill>
                  <a:srgbClr val="242424"/>
                </a:solidFill>
                <a:latin typeface="Calibri"/>
                <a:cs typeface="Calibri"/>
              </a:rPr>
              <a:t>SIPs)</a:t>
            </a:r>
            <a:r>
              <a:rPr dirty="0" sz="1200" spc="4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32323"/>
                </a:solidFill>
                <a:latin typeface="Calibri"/>
                <a:cs typeface="Calibri"/>
              </a:rPr>
              <a:t>fall</a:t>
            </a:r>
            <a:r>
              <a:rPr dirty="0" sz="1200" spc="14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62626"/>
                </a:solidFill>
                <a:latin typeface="Calibri"/>
                <a:cs typeface="Calibri"/>
              </a:rPr>
              <a:t>into</a:t>
            </a:r>
            <a:r>
              <a:rPr dirty="0" sz="1200" spc="18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the</a:t>
            </a:r>
            <a:r>
              <a:rPr dirty="0" sz="1200" spc="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C1C1C"/>
                </a:solidFill>
                <a:latin typeface="Calibri"/>
                <a:cs typeface="Calibri"/>
              </a:rPr>
              <a:t>"at-</a:t>
            </a:r>
            <a:r>
              <a:rPr dirty="0" sz="1200">
                <a:solidFill>
                  <a:srgbClr val="1C1C1C"/>
                </a:solidFill>
                <a:latin typeface="Calibri"/>
                <a:cs typeface="Calibri"/>
              </a:rPr>
              <a:t>risk"</a:t>
            </a:r>
            <a:r>
              <a:rPr dirty="0" sz="1200" spc="18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C1C1C"/>
                </a:solidFill>
                <a:latin typeface="Calibri"/>
                <a:cs typeface="Calibri"/>
              </a:rPr>
              <a:t>category.</a:t>
            </a:r>
            <a:endParaRPr sz="1200">
              <a:latin typeface="Calibri"/>
              <a:cs typeface="Calibri"/>
            </a:endParaRPr>
          </a:p>
          <a:p>
            <a:pPr marL="174625" marR="181610" indent="-162560">
              <a:lnSpc>
                <a:spcPct val="115500"/>
              </a:lnSpc>
              <a:spcBef>
                <a:spcPts val="1310"/>
              </a:spcBef>
              <a:buChar char="•"/>
              <a:tabLst>
                <a:tab pos="174625" algn="l"/>
                <a:tab pos="175895" algn="l"/>
              </a:tabLst>
            </a:pPr>
            <a:r>
              <a:rPr dirty="0" sz="1250">
                <a:solidFill>
                  <a:srgbClr val="1C1C1C"/>
                </a:solidFill>
                <a:latin typeface="Calibri"/>
                <a:cs typeface="Calibri"/>
              </a:rPr>
              <a:t>	</a:t>
            </a:r>
            <a:r>
              <a:rPr dirty="0" sz="1250">
                <a:solidFill>
                  <a:srgbClr val="282828"/>
                </a:solidFill>
                <a:latin typeface="Calibri"/>
                <a:cs typeface="Calibri"/>
              </a:rPr>
              <a:t>The</a:t>
            </a:r>
            <a:r>
              <a:rPr dirty="0" sz="1250" spc="-2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121"/>
                </a:solidFill>
                <a:latin typeface="Calibri"/>
                <a:cs typeface="Calibri"/>
              </a:rPr>
              <a:t>Metric:</a:t>
            </a:r>
            <a:r>
              <a:rPr dirty="0" sz="1250" spc="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50" spc="-40">
                <a:solidFill>
                  <a:srgbClr val="282828"/>
                </a:solidFill>
                <a:latin typeface="Calibri"/>
                <a:cs typeface="Calibri"/>
              </a:rPr>
              <a:t>"At-</a:t>
            </a:r>
            <a:r>
              <a:rPr dirty="0" sz="1250">
                <a:solidFill>
                  <a:srgbClr val="282828"/>
                </a:solidFill>
                <a:latin typeface="Calibri"/>
                <a:cs typeface="Calibri"/>
              </a:rPr>
              <a:t>risk"</a:t>
            </a:r>
            <a:r>
              <a:rPr dirty="0" sz="1250" spc="9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D2D2D"/>
                </a:solidFill>
                <a:latin typeface="Calibri"/>
                <a:cs typeface="Calibri"/>
              </a:rPr>
              <a:t>is</a:t>
            </a:r>
            <a:r>
              <a:rPr dirty="0" sz="1250" spc="4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F2F2F"/>
                </a:solidFill>
                <a:latin typeface="Calibri"/>
                <a:cs typeface="Calibri"/>
              </a:rPr>
              <a:t>defined</a:t>
            </a:r>
            <a:r>
              <a:rPr dirty="0" sz="1250" spc="11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A2A2A"/>
                </a:solidFill>
                <a:latin typeface="Calibri"/>
                <a:cs typeface="Calibri"/>
              </a:rPr>
              <a:t>by</a:t>
            </a:r>
            <a:r>
              <a:rPr dirty="0" sz="1250" spc="2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121"/>
                </a:solidFill>
                <a:latin typeface="Calibri"/>
                <a:cs typeface="Calibri"/>
              </a:rPr>
              <a:t>exhibiting</a:t>
            </a:r>
            <a:r>
              <a:rPr dirty="0" sz="1250" spc="10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2424"/>
                </a:solidFill>
                <a:latin typeface="Calibri"/>
                <a:cs typeface="Calibri"/>
              </a:rPr>
              <a:t>a</a:t>
            </a:r>
            <a:r>
              <a:rPr dirty="0" sz="1250" spc="-1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323"/>
                </a:solidFill>
                <a:latin typeface="Calibri"/>
                <a:cs typeface="Calibri"/>
              </a:rPr>
              <a:t>gap</a:t>
            </a:r>
            <a:r>
              <a:rPr dirty="0" sz="1250" spc="7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82828"/>
                </a:solidFill>
                <a:latin typeface="Calibri"/>
                <a:cs typeface="Calibri"/>
              </a:rPr>
              <a:t>of</a:t>
            </a:r>
            <a:r>
              <a:rPr dirty="0" sz="1250" spc="-1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242424"/>
                </a:solidFill>
                <a:latin typeface="Calibri"/>
                <a:cs typeface="Calibri"/>
              </a:rPr>
              <a:t>more </a:t>
            </a:r>
            <a:r>
              <a:rPr dirty="0" sz="1250">
                <a:solidFill>
                  <a:srgbClr val="232323"/>
                </a:solidFill>
                <a:latin typeface="Calibri"/>
                <a:cs typeface="Calibri"/>
              </a:rPr>
              <a:t>than</a:t>
            </a:r>
            <a:r>
              <a:rPr dirty="0" sz="1250" spc="5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323"/>
                </a:solidFill>
                <a:latin typeface="Calibri"/>
                <a:cs typeface="Calibri"/>
              </a:rPr>
              <a:t>35</a:t>
            </a:r>
            <a:r>
              <a:rPr dirty="0" sz="1250" spc="5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D1D1D"/>
                </a:solidFill>
                <a:latin typeface="Calibri"/>
                <a:cs typeface="Calibri"/>
              </a:rPr>
              <a:t>days</a:t>
            </a:r>
            <a:r>
              <a:rPr dirty="0" sz="1250" spc="7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82828"/>
                </a:solidFill>
                <a:latin typeface="Calibri"/>
                <a:cs typeface="Calibri"/>
              </a:rPr>
              <a:t>between</a:t>
            </a:r>
            <a:r>
              <a:rPr dirty="0" sz="1250" spc="10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F1F1F"/>
                </a:solidFill>
                <a:latin typeface="Calibri"/>
                <a:cs typeface="Calibri"/>
              </a:rPr>
              <a:t>investments.</a:t>
            </a:r>
            <a:endParaRPr sz="1250">
              <a:latin typeface="Calibri"/>
              <a:cs typeface="Calibri"/>
            </a:endParaRPr>
          </a:p>
          <a:p>
            <a:pPr marL="173990" marR="17780" indent="-161925">
              <a:lnSpc>
                <a:spcPct val="119600"/>
              </a:lnSpc>
              <a:spcBef>
                <a:spcPts val="1235"/>
              </a:spcBef>
              <a:buChar char="•"/>
              <a:tabLst>
                <a:tab pos="173990" algn="l"/>
                <a:tab pos="175895" algn="l"/>
              </a:tabLst>
            </a:pPr>
            <a:r>
              <a:rPr dirty="0" sz="1250">
                <a:solidFill>
                  <a:srgbClr val="1C1C1C"/>
                </a:solidFill>
                <a:latin typeface="Calibri"/>
                <a:cs typeface="Calibri"/>
              </a:rPr>
              <a:t>	</a:t>
            </a:r>
            <a:r>
              <a:rPr dirty="0" sz="125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1250" spc="3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F1F1F"/>
                </a:solidFill>
                <a:latin typeface="Calibri"/>
                <a:cs typeface="Calibri"/>
              </a:rPr>
              <a:t>Cause:</a:t>
            </a:r>
            <a:r>
              <a:rPr dirty="0" sz="1250" spc="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42424"/>
                </a:solidFill>
                <a:latin typeface="Calibri"/>
                <a:cs typeface="Calibri"/>
              </a:rPr>
              <a:t>Often</a:t>
            </a:r>
            <a:r>
              <a:rPr dirty="0" sz="1250" spc="6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1C1C"/>
                </a:solidFill>
                <a:latin typeface="Calibri"/>
                <a:cs typeface="Calibri"/>
              </a:rPr>
              <a:t>correlates</a:t>
            </a:r>
            <a:r>
              <a:rPr dirty="0" sz="1250" spc="10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D2D2D"/>
                </a:solidFill>
                <a:latin typeface="Calibri"/>
                <a:cs typeface="Calibri"/>
              </a:rPr>
              <a:t>with</a:t>
            </a:r>
            <a:r>
              <a:rPr dirty="0" sz="1250" spc="3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F2F2F"/>
                </a:solidFill>
                <a:latin typeface="Calibri"/>
                <a:cs typeface="Calibri"/>
              </a:rPr>
              <a:t>minor</a:t>
            </a:r>
            <a:r>
              <a:rPr dirty="0" sz="1250" spc="3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1C1C"/>
                </a:solidFill>
                <a:latin typeface="Calibri"/>
                <a:cs typeface="Calibri"/>
              </a:rPr>
              <a:t>macro-corrections</a:t>
            </a:r>
            <a:r>
              <a:rPr dirty="0" sz="1250" spc="4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1250" spc="-25">
                <a:solidFill>
                  <a:srgbClr val="262626"/>
                </a:solidFill>
                <a:latin typeface="Calibri"/>
                <a:cs typeface="Calibri"/>
              </a:rPr>
              <a:t>or </a:t>
            </a:r>
            <a:r>
              <a:rPr dirty="0" sz="1250">
                <a:solidFill>
                  <a:srgbClr val="262626"/>
                </a:solidFill>
                <a:latin typeface="Calibri"/>
                <a:cs typeface="Calibri"/>
              </a:rPr>
              <a:t>failed</a:t>
            </a:r>
            <a:r>
              <a:rPr dirty="0" sz="1250" spc="8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121"/>
                </a:solidFill>
                <a:latin typeface="Calibri"/>
                <a:cs typeface="Calibri"/>
              </a:rPr>
              <a:t>bank </a:t>
            </a:r>
            <a:r>
              <a:rPr dirty="0" sz="1250" spc="-20">
                <a:solidFill>
                  <a:srgbClr val="232323"/>
                </a:solidFill>
                <a:latin typeface="Calibri"/>
                <a:cs typeface="Calibri"/>
              </a:rPr>
              <a:t>auto-</a:t>
            </a:r>
            <a:r>
              <a:rPr dirty="0" sz="1250">
                <a:solidFill>
                  <a:srgbClr val="232323"/>
                </a:solidFill>
                <a:latin typeface="Calibri"/>
                <a:cs typeface="Calibri"/>
              </a:rPr>
              <a:t>debit</a:t>
            </a:r>
            <a:r>
              <a:rPr dirty="0" sz="1250" spc="13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C1C1C"/>
                </a:solidFill>
                <a:latin typeface="Calibri"/>
                <a:cs typeface="Calibri"/>
              </a:rPr>
              <a:t>setups.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01885" y="1627740"/>
            <a:ext cx="3557270" cy="1841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30">
                <a:latin typeface="Calibri"/>
                <a:cs typeface="Calibri"/>
              </a:rPr>
              <a:t>I•?Dashboard</a:t>
            </a:r>
            <a:r>
              <a:rPr dirty="0" sz="1000" spc="155">
                <a:latin typeface="Calibri"/>
                <a:cs typeface="Calibri"/>
              </a:rPr>
              <a:t> </a:t>
            </a:r>
            <a:r>
              <a:rPr dirty="0" sz="1000" spc="70">
                <a:latin typeface="Calibri"/>
                <a:cs typeface="Calibri"/>
              </a:rPr>
              <a:t>data</a:t>
            </a:r>
            <a:r>
              <a:rPr dirty="0" sz="1000" spc="60">
                <a:latin typeface="Calibri"/>
                <a:cs typeface="Calibri"/>
              </a:rPr>
              <a:t> </a:t>
            </a:r>
            <a:r>
              <a:rPr dirty="0" sz="1000" spc="45">
                <a:latin typeface="Calibri"/>
                <a:cs typeface="Calibri"/>
              </a:rPr>
              <a:t>visualization</a:t>
            </a:r>
            <a:r>
              <a:rPr dirty="0" sz="1000" spc="185">
                <a:latin typeface="Calibri"/>
                <a:cs typeface="Calibri"/>
              </a:rPr>
              <a:t> </a:t>
            </a:r>
            <a:r>
              <a:rPr dirty="0" sz="1000" spc="60">
                <a:latin typeface="Calibri"/>
                <a:cs typeface="Calibri"/>
              </a:rPr>
              <a:t>showing</a:t>
            </a:r>
            <a:r>
              <a:rPr dirty="0" sz="1000" spc="110">
                <a:latin typeface="Calibri"/>
                <a:cs typeface="Calibri"/>
              </a:rPr>
              <a:t> </a:t>
            </a:r>
            <a:r>
              <a:rPr dirty="0" sz="1000" spc="60">
                <a:latin typeface="Calibri"/>
                <a:cs typeface="Calibri"/>
              </a:rPr>
              <a:t>transaction</a:t>
            </a:r>
            <a:r>
              <a:rPr dirty="0" sz="1000" spc="125">
                <a:latin typeface="Calibri"/>
                <a:cs typeface="Calibri"/>
              </a:rPr>
              <a:t> </a:t>
            </a:r>
            <a:r>
              <a:rPr dirty="0" sz="1000" spc="55">
                <a:latin typeface="Calibri"/>
                <a:cs typeface="Calibri"/>
              </a:rPr>
              <a:t>trends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09495"/>
            <a:ext cx="10058400" cy="3929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440114"/>
            <a:ext cx="10054590" cy="287020"/>
          </a:xfrm>
          <a:custGeom>
            <a:avLst/>
            <a:gdLst/>
            <a:ahLst/>
            <a:cxnLst/>
            <a:rect l="l" t="t" r="r" b="b"/>
            <a:pathLst>
              <a:path w="10054590" h="287020">
                <a:moveTo>
                  <a:pt x="10054469" y="286860"/>
                </a:moveTo>
                <a:lnTo>
                  <a:pt x="0" y="286860"/>
                </a:lnTo>
                <a:lnTo>
                  <a:pt x="0" y="0"/>
                </a:lnTo>
                <a:lnTo>
                  <a:pt x="10054469" y="0"/>
                </a:lnTo>
                <a:lnTo>
                  <a:pt x="10054469" y="286860"/>
                </a:lnTo>
                <a:close/>
              </a:path>
            </a:pathLst>
          </a:custGeom>
          <a:solidFill>
            <a:srgbClr val="0F1F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75">
                <a:solidFill>
                  <a:srgbClr val="FFFFFF"/>
                </a:solidFill>
              </a:rPr>
              <a:t>Strategic</a:t>
            </a:r>
            <a:r>
              <a:rPr dirty="0" spc="155">
                <a:solidFill>
                  <a:srgbClr val="FFFFFF"/>
                </a:solidFill>
              </a:rPr>
              <a:t> </a:t>
            </a:r>
            <a:r>
              <a:rPr dirty="0" spc="125">
                <a:solidFill>
                  <a:srgbClr val="FFFFFF"/>
                </a:solidFill>
              </a:rPr>
              <a:t>Recommendations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for</a:t>
            </a:r>
            <a:r>
              <a:rPr dirty="0" spc="85">
                <a:solidFill>
                  <a:srgbClr val="FFFFFF"/>
                </a:solidFill>
              </a:rPr>
              <a:t> </a:t>
            </a:r>
            <a:r>
              <a:rPr dirty="0" spc="35">
                <a:solidFill>
                  <a:srgbClr val="FFFFFF"/>
                </a:solidFill>
              </a:rPr>
              <a:t>AMCs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0" y="1524682"/>
            <a:ext cx="10054590" cy="169545"/>
          </a:xfrm>
          <a:prstGeom prst="rect">
            <a:avLst/>
          </a:prstGeom>
          <a:solidFill>
            <a:srgbClr val="0F1F26"/>
          </a:solidFill>
        </p:spPr>
        <p:txBody>
          <a:bodyPr wrap="square" lIns="0" tIns="0" rIns="0" bIns="0" rtlCol="0" vert="horz">
            <a:spAutoFit/>
          </a:bodyPr>
          <a:lstStyle/>
          <a:p>
            <a:pPr marL="864869">
              <a:lnSpc>
                <a:spcPts val="1230"/>
              </a:lnSpc>
            </a:pPr>
            <a:r>
              <a:rPr dirty="0" sz="1350">
                <a:solidFill>
                  <a:srgbClr val="E4E4E4"/>
                </a:solidFill>
                <a:latin typeface="Calibri"/>
                <a:cs typeface="Calibri"/>
              </a:rPr>
              <a:t>Deploy</a:t>
            </a:r>
            <a:r>
              <a:rPr dirty="0" sz="1350" spc="65">
                <a:solidFill>
                  <a:srgbClr val="E4E4E4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E8E8E8"/>
                </a:solidFill>
                <a:latin typeface="Calibri"/>
                <a:cs typeface="Calibri"/>
              </a:rPr>
              <a:t>automated</a:t>
            </a:r>
            <a:r>
              <a:rPr dirty="0" sz="1350" spc="130">
                <a:solidFill>
                  <a:srgbClr val="E8E8E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E8E8E8"/>
                </a:solidFill>
                <a:latin typeface="Calibri"/>
                <a:cs typeface="Calibri"/>
              </a:rPr>
              <a:t>trigger</a:t>
            </a:r>
            <a:r>
              <a:rPr dirty="0" sz="1350" spc="55">
                <a:solidFill>
                  <a:srgbClr val="E8E8E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E1E1E1"/>
                </a:solidFill>
                <a:latin typeface="Calibri"/>
                <a:cs typeface="Calibri"/>
              </a:rPr>
              <a:t>workflows</a:t>
            </a:r>
            <a:r>
              <a:rPr dirty="0" sz="1350" spc="130">
                <a:solidFill>
                  <a:srgbClr val="E1E1E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E4E4E4"/>
                </a:solidFill>
                <a:latin typeface="Calibri"/>
                <a:cs typeface="Calibri"/>
              </a:rPr>
              <a:t>(SMS/Email)</a:t>
            </a:r>
            <a:r>
              <a:rPr dirty="0" sz="1350" spc="185">
                <a:solidFill>
                  <a:srgbClr val="E4E4E4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E2E2E2"/>
                </a:solidFill>
                <a:latin typeface="Calibri"/>
                <a:cs typeface="Calibri"/>
              </a:rPr>
              <a:t>specifically</a:t>
            </a:r>
            <a:r>
              <a:rPr dirty="0" sz="1350" spc="130">
                <a:solidFill>
                  <a:srgbClr val="E2E2E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E4E4E4"/>
                </a:solidFill>
                <a:latin typeface="Calibri"/>
                <a:cs typeface="Calibri"/>
              </a:rPr>
              <a:t>targeting</a:t>
            </a:r>
            <a:r>
              <a:rPr dirty="0" sz="1350" spc="120">
                <a:solidFill>
                  <a:srgbClr val="E4E4E4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BDBDB"/>
                </a:solidFill>
                <a:latin typeface="Calibri"/>
                <a:cs typeface="Calibri"/>
              </a:rPr>
              <a:t>the</a:t>
            </a:r>
            <a:r>
              <a:rPr dirty="0" sz="1350" spc="55">
                <a:solidFill>
                  <a:srgbClr val="DBDBDB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DFDFDF"/>
                </a:solidFill>
                <a:latin typeface="Calibri"/>
                <a:cs typeface="Calibri"/>
              </a:rPr>
              <a:t>"at-</a:t>
            </a:r>
            <a:r>
              <a:rPr dirty="0" sz="1350">
                <a:solidFill>
                  <a:srgbClr val="DFDFDF"/>
                </a:solidFill>
                <a:latin typeface="Calibri"/>
                <a:cs typeface="Calibri"/>
              </a:rPr>
              <a:t>risk"</a:t>
            </a:r>
            <a:r>
              <a:rPr dirty="0" sz="1350" spc="135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E4E4E4"/>
                </a:solidFill>
                <a:latin typeface="Calibri"/>
                <a:cs typeface="Calibri"/>
              </a:rPr>
              <a:t>investor</a:t>
            </a:r>
            <a:r>
              <a:rPr dirty="0" sz="1350" spc="155">
                <a:solidFill>
                  <a:srgbClr val="E4E4E4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DDDDD"/>
                </a:solidFill>
                <a:latin typeface="Calibri"/>
                <a:cs typeface="Calibri"/>
              </a:rPr>
              <a:t>cohort</a:t>
            </a:r>
            <a:r>
              <a:rPr dirty="0" sz="1350" spc="105">
                <a:solidFill>
                  <a:srgbClr val="DDDDDD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E4E4E4"/>
                </a:solidFill>
                <a:latin typeface="Calibri"/>
                <a:cs typeface="Calibri"/>
              </a:rPr>
              <a:t>flagged</a:t>
            </a:r>
            <a:r>
              <a:rPr dirty="0" sz="1350" spc="135">
                <a:solidFill>
                  <a:srgbClr val="E4E4E4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DDDDD"/>
                </a:solidFill>
                <a:latin typeface="Calibri"/>
                <a:cs typeface="Calibri"/>
              </a:rPr>
              <a:t>by</a:t>
            </a:r>
            <a:r>
              <a:rPr dirty="0" sz="1350" spc="40">
                <a:solidFill>
                  <a:srgbClr val="DDDDDD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BDBDB"/>
                </a:solidFill>
                <a:latin typeface="Calibri"/>
                <a:cs typeface="Calibri"/>
              </a:rPr>
              <a:t>the</a:t>
            </a:r>
            <a:r>
              <a:rPr dirty="0" sz="1350" spc="45">
                <a:solidFill>
                  <a:srgbClr val="DBDBDB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E1E1E1"/>
                </a:solidFill>
                <a:latin typeface="Calibri"/>
                <a:cs typeface="Calibri"/>
              </a:rPr>
              <a:t>35-</a:t>
            </a:r>
            <a:r>
              <a:rPr dirty="0" sz="1350" spc="-25">
                <a:solidFill>
                  <a:srgbClr val="E1E1E1"/>
                </a:solidFill>
                <a:latin typeface="Calibri"/>
                <a:cs typeface="Calibri"/>
              </a:rPr>
              <a:t>day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0" y="1776174"/>
            <a:ext cx="10054590" cy="169545"/>
          </a:xfrm>
          <a:prstGeom prst="rect">
            <a:avLst/>
          </a:prstGeom>
          <a:solidFill>
            <a:srgbClr val="0F1F26"/>
          </a:solidFill>
        </p:spPr>
        <p:txBody>
          <a:bodyPr wrap="square" lIns="0" tIns="0" rIns="0" bIns="0" rtlCol="0" vert="horz">
            <a:spAutoFit/>
          </a:bodyPr>
          <a:lstStyle/>
          <a:p>
            <a:pPr marL="864869">
              <a:lnSpc>
                <a:spcPts val="1230"/>
              </a:lnSpc>
            </a:pPr>
            <a:r>
              <a:rPr dirty="0" sz="1350" spc="-10">
                <a:solidFill>
                  <a:srgbClr val="DFDFDF"/>
                </a:solidFill>
                <a:latin typeface="Arial MT"/>
                <a:cs typeface="Arial MT"/>
              </a:rPr>
              <a:t>continuity</a:t>
            </a:r>
            <a:r>
              <a:rPr dirty="0" sz="1350" spc="1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350" spc="-10">
                <a:solidFill>
                  <a:srgbClr val="E6E6E6"/>
                </a:solidFill>
                <a:latin typeface="Arial MT"/>
                <a:cs typeface="Arial MT"/>
              </a:rPr>
              <a:t>algorithm</a:t>
            </a:r>
            <a:r>
              <a:rPr dirty="0" sz="1350" spc="3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DBDBDB"/>
                </a:solidFill>
                <a:latin typeface="Arial MT"/>
                <a:cs typeface="Arial MT"/>
              </a:rPr>
              <a:t>to</a:t>
            </a:r>
            <a:r>
              <a:rPr dirty="0" sz="1350" spc="-55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1350" spc="-30">
                <a:solidFill>
                  <a:srgbClr val="E4E4E4"/>
                </a:solidFill>
                <a:latin typeface="Arial MT"/>
                <a:cs typeface="Arial MT"/>
              </a:rPr>
              <a:t>recover</a:t>
            </a:r>
            <a:r>
              <a:rPr dirty="0" sz="1350" spc="-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1350" spc="-20">
                <a:solidFill>
                  <a:srgbClr val="E4E4E4"/>
                </a:solidFill>
                <a:latin typeface="Arial MT"/>
                <a:cs typeface="Arial MT"/>
              </a:rPr>
              <a:t>failed</a:t>
            </a:r>
            <a:r>
              <a:rPr dirty="0" sz="1350" spc="-4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1350" spc="-50">
                <a:solidFill>
                  <a:srgbClr val="E8E8E8"/>
                </a:solidFill>
                <a:latin typeface="Arial MT"/>
                <a:cs typeface="Arial MT"/>
              </a:rPr>
              <a:t>auto-</a:t>
            </a:r>
            <a:r>
              <a:rPr dirty="0" sz="1350" spc="-10">
                <a:solidFill>
                  <a:srgbClr val="E8E8E8"/>
                </a:solidFill>
                <a:latin typeface="Arial MT"/>
                <a:cs typeface="Arial MT"/>
              </a:rPr>
              <a:t>debits.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0" y="2617108"/>
            <a:ext cx="10054590" cy="169545"/>
          </a:xfrm>
          <a:prstGeom prst="rect">
            <a:avLst/>
          </a:prstGeom>
          <a:solidFill>
            <a:srgbClr val="0F1F26"/>
          </a:solidFill>
        </p:spPr>
        <p:txBody>
          <a:bodyPr wrap="square" lIns="0" tIns="0" rIns="0" bIns="0" rtlCol="0" vert="horz">
            <a:spAutoFit/>
          </a:bodyPr>
          <a:lstStyle/>
          <a:p>
            <a:pPr marL="866140">
              <a:lnSpc>
                <a:spcPts val="1230"/>
              </a:lnSpc>
            </a:pPr>
            <a:r>
              <a:rPr dirty="0" sz="1350">
                <a:solidFill>
                  <a:srgbClr val="D8D8D8"/>
                </a:solidFill>
                <a:latin typeface="Calibri"/>
                <a:cs typeface="Calibri"/>
              </a:rPr>
              <a:t>Shift</a:t>
            </a:r>
            <a:r>
              <a:rPr dirty="0" sz="1350" spc="70">
                <a:solidFill>
                  <a:srgbClr val="D8D8D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DDDDD"/>
                </a:solidFill>
                <a:latin typeface="Calibri"/>
                <a:cs typeface="Calibri"/>
              </a:rPr>
              <a:t>away</a:t>
            </a:r>
            <a:r>
              <a:rPr dirty="0" sz="1350" spc="60">
                <a:solidFill>
                  <a:srgbClr val="DDDDDD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BDBDB"/>
                </a:solidFill>
                <a:latin typeface="Calibri"/>
                <a:cs typeface="Calibri"/>
              </a:rPr>
              <a:t>from</a:t>
            </a:r>
            <a:r>
              <a:rPr dirty="0" sz="1350" spc="110">
                <a:solidFill>
                  <a:srgbClr val="DBDBD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8D8D8"/>
                </a:solidFill>
                <a:latin typeface="Calibri"/>
                <a:cs typeface="Calibri"/>
              </a:rPr>
              <a:t>static</a:t>
            </a:r>
            <a:r>
              <a:rPr dirty="0" sz="1350" spc="135">
                <a:solidFill>
                  <a:srgbClr val="D8D8D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ADADA"/>
                </a:solidFill>
                <a:latin typeface="Calibri"/>
                <a:cs typeface="Calibri"/>
              </a:rPr>
              <a:t>risk</a:t>
            </a:r>
            <a:r>
              <a:rPr dirty="0" sz="1350" spc="125">
                <a:solidFill>
                  <a:srgbClr val="DADAD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E1E1E1"/>
                </a:solidFill>
                <a:latin typeface="Calibri"/>
                <a:cs typeface="Calibri"/>
              </a:rPr>
              <a:t>labels</a:t>
            </a:r>
            <a:r>
              <a:rPr dirty="0" sz="1350" spc="100">
                <a:solidFill>
                  <a:srgbClr val="E1E1E1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EBEBEB"/>
                </a:solidFill>
                <a:latin typeface="Calibri"/>
                <a:cs typeface="Calibri"/>
              </a:rPr>
              <a:t>(Low/Med/High).</a:t>
            </a:r>
            <a:r>
              <a:rPr dirty="0" sz="1350" spc="15">
                <a:solidFill>
                  <a:srgbClr val="EBEBE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E4E4E4"/>
                </a:solidFill>
                <a:latin typeface="Calibri"/>
                <a:cs typeface="Calibri"/>
              </a:rPr>
              <a:t>Utilize</a:t>
            </a:r>
            <a:r>
              <a:rPr dirty="0" sz="1350" spc="100">
                <a:solidFill>
                  <a:srgbClr val="E4E4E4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DFDFDF"/>
                </a:solidFill>
                <a:latin typeface="Calibri"/>
                <a:cs typeface="Calibri"/>
              </a:rPr>
              <a:t>rolling-</a:t>
            </a:r>
            <a:r>
              <a:rPr dirty="0" sz="1350">
                <a:solidFill>
                  <a:srgbClr val="DFDFDF"/>
                </a:solidFill>
                <a:latin typeface="Calibri"/>
                <a:cs typeface="Calibri"/>
              </a:rPr>
              <a:t>risk</a:t>
            </a:r>
            <a:r>
              <a:rPr dirty="0" sz="1350" spc="22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E1E1E1"/>
                </a:solidFill>
                <a:latin typeface="Calibri"/>
                <a:cs typeface="Calibri"/>
              </a:rPr>
              <a:t>metrics</a:t>
            </a:r>
            <a:r>
              <a:rPr dirty="0" sz="1350" spc="175">
                <a:solidFill>
                  <a:srgbClr val="E1E1E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BDBDB"/>
                </a:solidFill>
                <a:latin typeface="Calibri"/>
                <a:cs typeface="Calibri"/>
              </a:rPr>
              <a:t>like</a:t>
            </a:r>
            <a:r>
              <a:rPr dirty="0" sz="1350" spc="60">
                <a:solidFill>
                  <a:srgbClr val="DBDBD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E1E1E1"/>
                </a:solidFill>
                <a:latin typeface="Calibri"/>
                <a:cs typeface="Calibri"/>
              </a:rPr>
              <a:t>the</a:t>
            </a:r>
            <a:r>
              <a:rPr dirty="0" sz="1350" spc="55">
                <a:solidFill>
                  <a:srgbClr val="E1E1E1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EBEBEB"/>
                </a:solidFill>
                <a:latin typeface="Calibri"/>
                <a:cs typeface="Calibri"/>
              </a:rPr>
              <a:t>90-</a:t>
            </a:r>
            <a:r>
              <a:rPr dirty="0" sz="1350">
                <a:solidFill>
                  <a:srgbClr val="EBEBEB"/>
                </a:solidFill>
                <a:latin typeface="Calibri"/>
                <a:cs typeface="Calibri"/>
              </a:rPr>
              <a:t>Day</a:t>
            </a:r>
            <a:r>
              <a:rPr dirty="0" sz="1350" spc="105">
                <a:solidFill>
                  <a:srgbClr val="EBEBE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DDDDD"/>
                </a:solidFill>
                <a:latin typeface="Calibri"/>
                <a:cs typeface="Calibri"/>
              </a:rPr>
              <a:t>Rolling</a:t>
            </a:r>
            <a:r>
              <a:rPr dirty="0" sz="1350" spc="100">
                <a:solidFill>
                  <a:srgbClr val="DDDDDD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DDDDD"/>
                </a:solidFill>
                <a:latin typeface="Calibri"/>
                <a:cs typeface="Calibri"/>
              </a:rPr>
              <a:t>Sharpe</a:t>
            </a:r>
            <a:r>
              <a:rPr dirty="0" sz="1350" spc="114">
                <a:solidFill>
                  <a:srgbClr val="DDDDDD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6D6D6"/>
                </a:solidFill>
                <a:latin typeface="Calibri"/>
                <a:cs typeface="Calibri"/>
              </a:rPr>
              <a:t>and</a:t>
            </a:r>
            <a:r>
              <a:rPr dirty="0" sz="1350" spc="6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DBDBDB"/>
                </a:solidFill>
                <a:latin typeface="Calibri"/>
                <a:cs typeface="Calibri"/>
              </a:rPr>
              <a:t>Historical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0" y="2868602"/>
            <a:ext cx="10054590" cy="169545"/>
          </a:xfrm>
          <a:prstGeom prst="rect">
            <a:avLst/>
          </a:prstGeom>
          <a:solidFill>
            <a:srgbClr val="0F1F26"/>
          </a:solidFill>
        </p:spPr>
        <p:txBody>
          <a:bodyPr wrap="square" lIns="0" tIns="0" rIns="0" bIns="0" rtlCol="0" vert="horz">
            <a:spAutoFit/>
          </a:bodyPr>
          <a:lstStyle/>
          <a:p>
            <a:pPr marL="861060">
              <a:lnSpc>
                <a:spcPts val="1230"/>
              </a:lnSpc>
            </a:pPr>
            <a:r>
              <a:rPr dirty="0" sz="1350">
                <a:solidFill>
                  <a:srgbClr val="DBDBDB"/>
                </a:solidFill>
                <a:latin typeface="Calibri"/>
                <a:cs typeface="Calibri"/>
              </a:rPr>
              <a:t>VaR</a:t>
            </a:r>
            <a:r>
              <a:rPr dirty="0" sz="1350" spc="20">
                <a:solidFill>
                  <a:srgbClr val="DBDBD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DDDDD"/>
                </a:solidFill>
                <a:latin typeface="Calibri"/>
                <a:cs typeface="Calibri"/>
              </a:rPr>
              <a:t>to</a:t>
            </a:r>
            <a:r>
              <a:rPr dirty="0" sz="1350" spc="70">
                <a:solidFill>
                  <a:srgbClr val="DDDDDD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DDDDD"/>
                </a:solidFill>
                <a:latin typeface="Calibri"/>
                <a:cs typeface="Calibri"/>
              </a:rPr>
              <a:t>better</a:t>
            </a:r>
            <a:r>
              <a:rPr dirty="0" sz="1350" spc="90">
                <a:solidFill>
                  <a:srgbClr val="DDDDDD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BDBDB"/>
                </a:solidFill>
                <a:latin typeface="Calibri"/>
                <a:cs typeface="Calibri"/>
              </a:rPr>
              <a:t>manage</a:t>
            </a:r>
            <a:r>
              <a:rPr dirty="0" sz="1350" spc="110">
                <a:solidFill>
                  <a:srgbClr val="DBDBD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DDDDD"/>
                </a:solidFill>
                <a:latin typeface="Calibri"/>
                <a:cs typeface="Calibri"/>
              </a:rPr>
              <a:t>investor</a:t>
            </a:r>
            <a:r>
              <a:rPr dirty="0" sz="1350" spc="90">
                <a:solidFill>
                  <a:srgbClr val="DDDDDD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E4E4E4"/>
                </a:solidFill>
                <a:latin typeface="Calibri"/>
                <a:cs typeface="Calibri"/>
              </a:rPr>
              <a:t>expectations</a:t>
            </a:r>
            <a:r>
              <a:rPr dirty="0" sz="1350" spc="210">
                <a:solidFill>
                  <a:srgbClr val="E4E4E4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E1E1E1"/>
                </a:solidFill>
                <a:latin typeface="Calibri"/>
                <a:cs typeface="Calibri"/>
              </a:rPr>
              <a:t>during</a:t>
            </a:r>
            <a:r>
              <a:rPr dirty="0" sz="1350" spc="80">
                <a:solidFill>
                  <a:srgbClr val="E1E1E1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E6E6E6"/>
                </a:solidFill>
                <a:latin typeface="Calibri"/>
                <a:cs typeface="Calibri"/>
              </a:rPr>
              <a:t>shocks.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0" y="3717394"/>
            <a:ext cx="10054590" cy="169545"/>
          </a:xfrm>
          <a:prstGeom prst="rect">
            <a:avLst/>
          </a:prstGeom>
          <a:solidFill>
            <a:srgbClr val="0F1F26"/>
          </a:solidFill>
        </p:spPr>
        <p:txBody>
          <a:bodyPr wrap="square" lIns="0" tIns="0" rIns="0" bIns="0" rtlCol="0" vert="horz">
            <a:spAutoFit/>
          </a:bodyPr>
          <a:lstStyle/>
          <a:p>
            <a:pPr marL="864869">
              <a:lnSpc>
                <a:spcPts val="1230"/>
              </a:lnSpc>
            </a:pPr>
            <a:r>
              <a:rPr dirty="0" sz="1350">
                <a:solidFill>
                  <a:srgbClr val="DBDBDB"/>
                </a:solidFill>
                <a:latin typeface="Calibri"/>
                <a:cs typeface="Calibri"/>
              </a:rPr>
              <a:t>Integrate</a:t>
            </a:r>
            <a:r>
              <a:rPr dirty="0" sz="1350" spc="110">
                <a:solidFill>
                  <a:srgbClr val="DBDBD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FDFDF"/>
                </a:solidFill>
                <a:latin typeface="Calibri"/>
                <a:cs typeface="Calibri"/>
              </a:rPr>
              <a:t>internal</a:t>
            </a:r>
            <a:r>
              <a:rPr dirty="0" sz="1350" spc="145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8D8D8"/>
                </a:solidFill>
                <a:latin typeface="Calibri"/>
                <a:cs typeface="Calibri"/>
              </a:rPr>
              <a:t>HHI</a:t>
            </a:r>
            <a:r>
              <a:rPr dirty="0" sz="1350" spc="110">
                <a:solidFill>
                  <a:srgbClr val="D8D8D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ADADA"/>
                </a:solidFill>
                <a:latin typeface="Calibri"/>
                <a:cs typeface="Calibri"/>
              </a:rPr>
              <a:t>scoring</a:t>
            </a:r>
            <a:r>
              <a:rPr dirty="0" sz="1350" spc="90">
                <a:solidFill>
                  <a:srgbClr val="DADAD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DDDDD"/>
                </a:solidFill>
                <a:latin typeface="Calibri"/>
                <a:cs typeface="Calibri"/>
              </a:rPr>
              <a:t>alerts</a:t>
            </a:r>
            <a:r>
              <a:rPr dirty="0" sz="1350" spc="145">
                <a:solidFill>
                  <a:srgbClr val="DDDDDD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DDDDD"/>
                </a:solidFill>
                <a:latin typeface="Calibri"/>
                <a:cs typeface="Calibri"/>
              </a:rPr>
              <a:t>to</a:t>
            </a:r>
            <a:r>
              <a:rPr dirty="0" sz="1350" spc="60">
                <a:solidFill>
                  <a:srgbClr val="DDDDDD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BDBDB"/>
                </a:solidFill>
                <a:latin typeface="Calibri"/>
                <a:cs typeface="Calibri"/>
              </a:rPr>
              <a:t>ensure</a:t>
            </a:r>
            <a:r>
              <a:rPr dirty="0" sz="1350" spc="114">
                <a:solidFill>
                  <a:srgbClr val="DBDBD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FDFDF"/>
                </a:solidFill>
                <a:latin typeface="Calibri"/>
                <a:cs typeface="Calibri"/>
              </a:rPr>
              <a:t>funds</a:t>
            </a:r>
            <a:r>
              <a:rPr dirty="0" sz="1350" spc="165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E2E2E2"/>
                </a:solidFill>
                <a:latin typeface="Calibri"/>
                <a:cs typeface="Calibri"/>
              </a:rPr>
              <a:t>marketed</a:t>
            </a:r>
            <a:r>
              <a:rPr dirty="0" sz="1350" spc="145">
                <a:solidFill>
                  <a:srgbClr val="E2E2E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ADADA"/>
                </a:solidFill>
                <a:latin typeface="Calibri"/>
                <a:cs typeface="Calibri"/>
              </a:rPr>
              <a:t>and</a:t>
            </a:r>
            <a:r>
              <a:rPr dirty="0" sz="1350" spc="75">
                <a:solidFill>
                  <a:srgbClr val="DADAD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FDFDF"/>
                </a:solidFill>
                <a:latin typeface="Calibri"/>
                <a:cs typeface="Calibri"/>
              </a:rPr>
              <a:t>sold</a:t>
            </a:r>
            <a:r>
              <a:rPr dirty="0" sz="1350" spc="55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BDBDB"/>
                </a:solidFill>
                <a:latin typeface="Calibri"/>
                <a:cs typeface="Calibri"/>
              </a:rPr>
              <a:t>as</a:t>
            </a:r>
            <a:r>
              <a:rPr dirty="0" sz="1350" spc="95">
                <a:solidFill>
                  <a:srgbClr val="DBDBD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E2E2E2"/>
                </a:solidFill>
                <a:latin typeface="Calibri"/>
                <a:cs typeface="Calibri"/>
              </a:rPr>
              <a:t>"Diversified</a:t>
            </a:r>
            <a:r>
              <a:rPr dirty="0" sz="1350" spc="145">
                <a:solidFill>
                  <a:srgbClr val="E2E2E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E8E8E8"/>
                </a:solidFill>
                <a:latin typeface="Calibri"/>
                <a:cs typeface="Calibri"/>
              </a:rPr>
              <a:t>Equity"</a:t>
            </a:r>
            <a:r>
              <a:rPr dirty="0" sz="1350" spc="130">
                <a:solidFill>
                  <a:srgbClr val="E8E8E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8D8D8"/>
                </a:solidFill>
                <a:latin typeface="Calibri"/>
                <a:cs typeface="Calibri"/>
              </a:rPr>
              <a:t>do</a:t>
            </a:r>
            <a:r>
              <a:rPr dirty="0" sz="1350" spc="90">
                <a:solidFill>
                  <a:srgbClr val="D8D8D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BDBDB"/>
                </a:solidFill>
                <a:latin typeface="Calibri"/>
                <a:cs typeface="Calibri"/>
              </a:rPr>
              <a:t>not</a:t>
            </a:r>
            <a:r>
              <a:rPr dirty="0" sz="1350" spc="60">
                <a:solidFill>
                  <a:srgbClr val="DBDBD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BDBDB"/>
                </a:solidFill>
                <a:latin typeface="Calibri"/>
                <a:cs typeface="Calibri"/>
              </a:rPr>
              <a:t>silently</a:t>
            </a:r>
            <a:r>
              <a:rPr dirty="0" sz="1350" spc="95">
                <a:solidFill>
                  <a:srgbClr val="DBDBD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DBDBDB"/>
                </a:solidFill>
                <a:latin typeface="Calibri"/>
                <a:cs typeface="Calibri"/>
              </a:rPr>
              <a:t>breach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0" y="3968887"/>
            <a:ext cx="10054590" cy="130175"/>
          </a:xfrm>
          <a:prstGeom prst="rect">
            <a:avLst/>
          </a:prstGeom>
          <a:solidFill>
            <a:srgbClr val="0F1F26"/>
          </a:solidFill>
        </p:spPr>
        <p:txBody>
          <a:bodyPr wrap="square" lIns="0" tIns="0" rIns="0" bIns="0" rtlCol="0" vert="horz">
            <a:spAutoFit/>
          </a:bodyPr>
          <a:lstStyle/>
          <a:p>
            <a:pPr marL="866775">
              <a:lnSpc>
                <a:spcPts val="1019"/>
              </a:lnSpc>
            </a:pPr>
            <a:r>
              <a:rPr dirty="0" sz="1250">
                <a:solidFill>
                  <a:srgbClr val="DADADA"/>
                </a:solidFill>
                <a:latin typeface="Arial MT"/>
                <a:cs typeface="Arial MT"/>
              </a:rPr>
              <a:t>safe</a:t>
            </a:r>
            <a:r>
              <a:rPr dirty="0" sz="1250" spc="70">
                <a:solidFill>
                  <a:srgbClr val="DADADA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DBDBDB"/>
                </a:solidFill>
                <a:latin typeface="Arial MT"/>
                <a:cs typeface="Arial MT"/>
              </a:rPr>
              <a:t>concentration</a:t>
            </a:r>
            <a:r>
              <a:rPr dirty="0" sz="1250" spc="204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DBDBDB"/>
                </a:solidFill>
                <a:latin typeface="Arial MT"/>
                <a:cs typeface="Arial MT"/>
              </a:rPr>
              <a:t>thresholds</a:t>
            </a:r>
            <a:r>
              <a:rPr dirty="0" sz="1250" spc="155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D4D4D4"/>
                </a:solidFill>
                <a:latin typeface="Arial MT"/>
                <a:cs typeface="Arial MT"/>
              </a:rPr>
              <a:t>in</a:t>
            </a:r>
            <a:r>
              <a:rPr dirty="0" sz="1250" spc="1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1250" spc="-20">
                <a:solidFill>
                  <a:srgbClr val="D8D8D8"/>
                </a:solidFill>
                <a:latin typeface="Arial MT"/>
                <a:cs typeface="Arial MT"/>
              </a:rPr>
              <a:t>IT</a:t>
            </a:r>
            <a:r>
              <a:rPr dirty="0" sz="1250" spc="25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DADADA"/>
                </a:solidFill>
                <a:latin typeface="Arial MT"/>
                <a:cs typeface="Arial MT"/>
              </a:rPr>
              <a:t>and</a:t>
            </a:r>
            <a:r>
              <a:rPr dirty="0" sz="1250" spc="70">
                <a:solidFill>
                  <a:srgbClr val="DADADA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E2E2E2"/>
                </a:solidFill>
                <a:latin typeface="Arial MT"/>
                <a:cs typeface="Arial MT"/>
              </a:rPr>
              <a:t>Financials.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44744" y="2586670"/>
            <a:ext cx="3324225" cy="14306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R="152400">
              <a:lnSpc>
                <a:spcPct val="100000"/>
              </a:lnSpc>
              <a:spcBef>
                <a:spcPts val="130"/>
              </a:spcBef>
            </a:pPr>
            <a:r>
              <a:rPr dirty="0" sz="1500" spc="90">
                <a:solidFill>
                  <a:srgbClr val="525252"/>
                </a:solidFill>
                <a:latin typeface="Calibri"/>
                <a:cs typeface="Calibri"/>
              </a:rPr>
              <a:t>Thank</a:t>
            </a:r>
            <a:r>
              <a:rPr dirty="0" sz="1500" spc="13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dirty="0" sz="1500" spc="75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dirty="0" sz="1500" spc="13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75757"/>
                </a:solidFill>
                <a:latin typeface="Calibri"/>
                <a:cs typeface="Calibri"/>
              </a:rPr>
              <a:t>for</a:t>
            </a:r>
            <a:r>
              <a:rPr dirty="0" sz="1500" spc="90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500" spc="75">
                <a:solidFill>
                  <a:srgbClr val="595959"/>
                </a:solidFill>
                <a:latin typeface="Calibri"/>
                <a:cs typeface="Calibri"/>
              </a:rPr>
              <a:t>your</a:t>
            </a:r>
            <a:r>
              <a:rPr dirty="0" sz="1500" spc="14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575757"/>
                </a:solidFill>
                <a:latin typeface="Calibri"/>
                <a:cs typeface="Calibri"/>
              </a:rPr>
              <a:t>time.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500">
              <a:latin typeface="Calibri"/>
              <a:cs typeface="Calibri"/>
            </a:endParaRPr>
          </a:p>
          <a:p>
            <a:pPr algn="ctr" marR="155575">
              <a:lnSpc>
                <a:spcPct val="100000"/>
              </a:lnSpc>
            </a:pPr>
            <a:r>
              <a:rPr dirty="0" sz="1600" spc="75">
                <a:solidFill>
                  <a:srgbClr val="212121"/>
                </a:solidFill>
                <a:latin typeface="Calibri"/>
                <a:cs typeface="Calibri"/>
              </a:rPr>
              <a:t>Aditya</a:t>
            </a:r>
            <a:r>
              <a:rPr dirty="0" sz="1600" spc="4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1A1A1A"/>
                </a:solidFill>
                <a:latin typeface="Calibri"/>
                <a:cs typeface="Calibri"/>
              </a:rPr>
              <a:t>Raj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dirty="0" sz="1200">
                <a:solidFill>
                  <a:srgbClr val="1C66A7"/>
                </a:solidFill>
                <a:latin typeface="Calibri"/>
                <a:cs typeface="Calibri"/>
              </a:rPr>
              <a:t>github.com/adityaraj9798/Mutual-Fund-</a:t>
            </a:r>
            <a:r>
              <a:rPr dirty="0" sz="1200" spc="-10">
                <a:solidFill>
                  <a:srgbClr val="1C66A7"/>
                </a:solidFill>
                <a:latin typeface="Calibri"/>
                <a:cs typeface="Calibri"/>
              </a:rPr>
              <a:t>Analytics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629" y="1336061"/>
            <a:ext cx="722947" cy="42439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771" y="809495"/>
            <a:ext cx="9162573" cy="3929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81965" y="1951501"/>
            <a:ext cx="9112250" cy="0"/>
          </a:xfrm>
          <a:custGeom>
            <a:avLst/>
            <a:gdLst/>
            <a:ahLst/>
            <a:cxnLst/>
            <a:rect l="l" t="t" r="r" b="b"/>
            <a:pathLst>
              <a:path w="9112250" h="0">
                <a:moveTo>
                  <a:pt x="0" y="0"/>
                </a:moveTo>
                <a:lnTo>
                  <a:pt x="9112148" y="0"/>
                </a:lnTo>
              </a:path>
            </a:pathLst>
          </a:custGeom>
          <a:ln w="9038">
            <a:solidFill>
              <a:srgbClr val="7074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7620">
              <a:lnSpc>
                <a:spcPct val="100000"/>
              </a:lnSpc>
              <a:spcBef>
                <a:spcPts val="120"/>
              </a:spcBef>
            </a:pPr>
            <a:r>
              <a:rPr dirty="0" spc="150">
                <a:solidFill>
                  <a:srgbClr val="161616"/>
                </a:solidFill>
              </a:rPr>
              <a:t>Image</a:t>
            </a:r>
            <a:r>
              <a:rPr dirty="0" spc="50">
                <a:solidFill>
                  <a:srgbClr val="161616"/>
                </a:solidFill>
              </a:rPr>
              <a:t> </a:t>
            </a:r>
            <a:r>
              <a:rPr dirty="0" spc="90"/>
              <a:t>Sources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61396" y="1233253"/>
            <a:ext cx="8205470" cy="5886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0"/>
              </a:spcBef>
            </a:pPr>
            <a:r>
              <a:rPr dirty="0" sz="900" spc="-10">
                <a:solidFill>
                  <a:srgbClr val="1C1C1C"/>
                </a:solidFill>
                <a:latin typeface="Calibri"/>
                <a:cs typeface="Calibri"/>
                <a:hlinkClick r:id="rId4"/>
              </a:rPr>
              <a:t>https://static.vecteezy.com/system/resources/previews/075/683/084/non</a:t>
            </a:r>
            <a:r>
              <a:rPr dirty="0" sz="900" spc="190">
                <a:solidFill>
                  <a:srgbClr val="1C1C1C"/>
                </a:solidFill>
                <a:latin typeface="Calibri"/>
                <a:cs typeface="Calibri"/>
              </a:rPr>
              <a:t>  </a:t>
            </a:r>
            <a:r>
              <a:rPr dirty="0" sz="900" spc="-10">
                <a:solidFill>
                  <a:srgbClr val="1F1F1F"/>
                </a:solidFill>
                <a:latin typeface="Calibri"/>
                <a:cs typeface="Calibri"/>
              </a:rPr>
              <a:t>2x/abstract-financial-growth-background-with-glowing-purple-data-chart-and-rising-trend-line-</a:t>
            </a:r>
            <a:r>
              <a:rPr dirty="0" sz="900" spc="-20">
                <a:solidFill>
                  <a:srgbClr val="1F1F1F"/>
                </a:solidFill>
                <a:latin typeface="Calibri"/>
                <a:cs typeface="Calibri"/>
              </a:rPr>
              <a:t>mode</a:t>
            </a:r>
            <a:r>
              <a:rPr dirty="0" sz="900" spc="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51515"/>
                </a:solidFill>
                <a:latin typeface="Calibri"/>
                <a:cs typeface="Calibri"/>
              </a:rPr>
              <a:t>rn-business-analytics-concept-design-with-copy-space-for-presentation-report-or-marketing-use-vector.jpg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1100">
                <a:solidFill>
                  <a:srgbClr val="2B2B2B"/>
                </a:solidFill>
                <a:latin typeface="Calibri"/>
                <a:cs typeface="Calibri"/>
              </a:rPr>
              <a:t>Source:</a:t>
            </a:r>
            <a:r>
              <a:rPr dirty="0" sz="1100" spc="10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7569D6"/>
                </a:solidFill>
                <a:latin typeface="Calibri"/>
                <a:cs typeface="Calibri"/>
                <a:hlinkClick r:id="rId5"/>
              </a:rPr>
              <a:t>www.vecteezy.com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0452" y="2041130"/>
            <a:ext cx="922019" cy="48133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950" spc="204">
                <a:solidFill>
                  <a:srgbClr val="2A2A2A"/>
                </a:solidFill>
                <a:latin typeface="Calibri"/>
                <a:cs typeface="Calibri"/>
              </a:rPr>
              <a:t>“Chum</a:t>
            </a:r>
            <a:r>
              <a:rPr dirty="0" sz="950" spc="204">
                <a:solidFill>
                  <a:srgbClr val="212121"/>
                </a:solidFill>
                <a:latin typeface="Calibri"/>
                <a:cs typeface="Calibri"/>
              </a:rPr>
              <a:t>bna</a:t>
            </a:r>
            <a:r>
              <a:rPr dirty="0" sz="950" spc="204">
                <a:solidFill>
                  <a:srgbClr val="2B2B2B"/>
                </a:solidFill>
                <a:latin typeface="Calibri"/>
                <a:cs typeface="Calibri"/>
              </a:rPr>
              <a:t>il</a:t>
            </a:r>
            <a:endParaRPr sz="950">
              <a:latin typeface="Calibri"/>
              <a:cs typeface="Calibri"/>
            </a:endParaRPr>
          </a:p>
          <a:p>
            <a:pPr marL="16510">
              <a:lnSpc>
                <a:spcPct val="100000"/>
              </a:lnSpc>
              <a:spcBef>
                <a:spcPts val="580"/>
              </a:spcBef>
            </a:pPr>
            <a:r>
              <a:rPr dirty="0" sz="1150" spc="-10">
                <a:solidFill>
                  <a:srgbClr val="1F1F1F"/>
                </a:solidFill>
                <a:latin typeface="Calibri"/>
                <a:cs typeface="Calibri"/>
              </a:rPr>
              <a:t>www.kIipfoIio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66360" y="1998558"/>
            <a:ext cx="4764405" cy="48895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950" spc="-40">
                <a:solidFill>
                  <a:srgbClr val="161616"/>
                </a:solidFill>
                <a:latin typeface="Calibri"/>
                <a:cs typeface="Calibri"/>
              </a:rPr>
              <a:t>SI//images.kIipfoIio.com/website/public/bf9c6fbb-06bf-4f1d-</a:t>
            </a:r>
            <a:r>
              <a:rPr dirty="0" sz="950" spc="-45">
                <a:solidFill>
                  <a:srgbClr val="161616"/>
                </a:solidFill>
                <a:latin typeface="Calibri"/>
                <a:cs typeface="Calibri"/>
              </a:rPr>
              <a:t>88a7-d02b70902bd1/data-</a:t>
            </a:r>
            <a:r>
              <a:rPr dirty="0" sz="950" spc="-10">
                <a:solidFill>
                  <a:srgbClr val="161616"/>
                </a:solidFill>
                <a:latin typeface="Calibri"/>
                <a:cs typeface="Calibri"/>
              </a:rPr>
              <a:t>dashboard.png</a:t>
            </a:r>
            <a:endParaRPr sz="950">
              <a:latin typeface="Calibri"/>
              <a:cs typeface="Calibri"/>
            </a:endParaRPr>
          </a:p>
          <a:p>
            <a:pPr marL="155575">
              <a:lnSpc>
                <a:spcPct val="100000"/>
              </a:lnSpc>
              <a:spcBef>
                <a:spcPts val="610"/>
              </a:spcBef>
            </a:pPr>
            <a:r>
              <a:rPr dirty="0" sz="1150" spc="-65">
                <a:solidFill>
                  <a:srgbClr val="1F1F1F"/>
                </a:solidFill>
                <a:latin typeface="Calibri"/>
                <a:cs typeface="Calibri"/>
              </a:rPr>
              <a:t>e:</a:t>
            </a:r>
            <a:r>
              <a:rPr dirty="0" sz="115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6657D1"/>
                </a:solidFill>
                <a:latin typeface="Calibri"/>
                <a:cs typeface="Calibri"/>
                <a:hlinkClick r:id="rId6"/>
              </a:rPr>
              <a:t>www.klipfolio.com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aditya raj</dc:creator>
  <dc:title>presentation - Bluestock Mutual Fund Analytics Presentation.pdf</dc:title>
  <dcterms:created xsi:type="dcterms:W3CDTF">2026-06-21T15:25:04Z</dcterms:created>
  <dcterms:modified xsi:type="dcterms:W3CDTF">2026-06-21T15:25:04Z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2026-06-21T00:00:00Z</vt:filetime>
  </property>
  <property fmtid="{D5CDD505-2E9C-101B-9397-08002B2CF9AE}" pid="4" name="LastSaved">
    <vt:filetime>2026-06-21T00:00:00Z</vt:filetime>
  </property>
  <property fmtid="{D5CDD505-2E9C-101B-9397-08002B2CF9AE}" pid="5" name="Producer">
    <vt:lpwstr>Microsoft: Print To PDF</vt:lpwstr>
  </property>
</Properties>
</file>